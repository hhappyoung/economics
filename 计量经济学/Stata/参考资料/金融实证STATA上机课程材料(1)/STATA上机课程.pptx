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1" r:id="rId3"/>
  </p:sldMasterIdLst>
  <p:notesMasterIdLst>
    <p:notesMasterId r:id="rId6"/>
  </p:notesMasterIdLst>
  <p:sldIdLst>
    <p:sldId id="256" r:id="rId4"/>
    <p:sldId id="257" r:id="rId5"/>
    <p:sldId id="259" r:id="rId7"/>
    <p:sldId id="342" r:id="rId8"/>
    <p:sldId id="343" r:id="rId9"/>
    <p:sldId id="335" r:id="rId10"/>
    <p:sldId id="344" r:id="rId11"/>
    <p:sldId id="333" r:id="rId12"/>
    <p:sldId id="311" r:id="rId13"/>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3065F"/>
    <a:srgbClr val="6E0F6D"/>
    <a:srgbClr val="562458"/>
    <a:srgbClr val="1F3E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06"/>
    <p:restoredTop sz="75701" autoAdjust="0"/>
  </p:normalViewPr>
  <p:slideViewPr>
    <p:cSldViewPr snapToGrid="0" snapToObjects="1">
      <p:cViewPr varScale="1">
        <p:scale>
          <a:sx n="87" d="100"/>
          <a:sy n="87" d="100"/>
        </p:scale>
        <p:origin x="99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7" Type="http://schemas.openxmlformats.org/officeDocument/2006/relationships/tags" Target="tags/tag4.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EDEAD2-C66D-6444-BD2F-FD9D8DE91A0E}"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D65122-51D9-1B43-9D70-07EC41849D76}"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第一部分主要以金融市场微观结构理论和一般均衡理论为分析框架，力图从金融经济学理论上分析T+1交易制度在资产定价中的作用机制，主要包括资产价格形成机制、资产的流动性演变机制以及资产价格的波动性变化机制；更进一步在理论推导下，利用计量实证方法进行T+1交易制度指标的测度性研究，对资产收益率进行多维分解分离出T+1交易制度的代理指标；进而量化考察交易制度在资产价格形成、流动性演变、波动性变化以及三者两两交互情景下的作用大小。第二部分主要以中小投资者利益保护为切入点，从投资者的风险偏好出发考察不同风险偏好下中小投资者的交易决策行为；构建多指标的投资者利益综合评价体系，分析投资者的不同类型决策所导致的利益损益情况；最后，利用反事实研究框架构建交易机制分离模型，以考察T+1交易制度对中小投资者利益的影响。</a:t>
            </a:r>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smtClean="0"/>
              <a:t>单击此处编辑母版标题样式</a:t>
            </a:r>
            <a:endParaRPr kumimoji="1"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smtClean="0"/>
              <a:t>单击此处编辑母版副标题样式</a:t>
            </a:r>
            <a:endParaRPr kumimoji="1" lang="zh-CN" altLang="en-US"/>
          </a:p>
        </p:txBody>
      </p:sp>
      <p:sp>
        <p:nvSpPr>
          <p:cNvPr id="4" name="日期占位符 3"/>
          <p:cNvSpPr>
            <a:spLocks noGrp="1"/>
          </p:cNvSpPr>
          <p:nvPr>
            <p:ph type="dt" sz="half" idx="10"/>
          </p:nvPr>
        </p:nvSpPr>
        <p:spPr/>
        <p:txBody>
          <a:bodyPr/>
          <a:lstStyle/>
          <a:p>
            <a:fld id="{08BC7FCC-5B0F-C147-8636-C6B90A0815B3}"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107AD887-69C5-A940-951E-13EB0F01A0E1}" type="slidenum">
              <a:rPr kumimoji="1" lang="zh-CN" altLang="en-US" smtClean="0"/>
            </a:fld>
            <a:endParaRPr kumimoji="1"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08BC7FCC-5B0F-C147-8636-C6B90A0815B3}"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107AD887-69C5-A940-951E-13EB0F01A0E1}" type="slidenum">
              <a:rPr kumimoji="1" lang="zh-CN" altLang="en-US" smtClean="0"/>
            </a:fld>
            <a:endParaRPr kumimoji="1"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smtClean="0"/>
              <a:t>单击此处编辑母版文本样式</a:t>
            </a:r>
            <a:endParaRPr kumimoji="1" lang="zh-CN" altLang="en-US" smtClean="0"/>
          </a:p>
        </p:txBody>
      </p:sp>
      <p:sp>
        <p:nvSpPr>
          <p:cNvPr id="4" name="日期占位符 3"/>
          <p:cNvSpPr>
            <a:spLocks noGrp="1"/>
          </p:cNvSpPr>
          <p:nvPr>
            <p:ph type="dt" sz="half" idx="10"/>
          </p:nvPr>
        </p:nvSpPr>
        <p:spPr/>
        <p:txBody>
          <a:bodyPr/>
          <a:lstStyle/>
          <a:p>
            <a:fld id="{08BC7FCC-5B0F-C147-8636-C6B90A0815B3}"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107AD887-69C5-A940-951E-13EB0F01A0E1}" type="slidenum">
              <a:rPr kumimoji="1" lang="zh-CN" altLang="en-US" smtClean="0"/>
            </a:fld>
            <a:endParaRPr kumimoji="1"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5" name="日期占位符 4"/>
          <p:cNvSpPr>
            <a:spLocks noGrp="1"/>
          </p:cNvSpPr>
          <p:nvPr>
            <p:ph type="dt" sz="half" idx="10"/>
          </p:nvPr>
        </p:nvSpPr>
        <p:spPr/>
        <p:txBody>
          <a:bodyPr/>
          <a:lstStyle/>
          <a:p>
            <a:fld id="{08BC7FCC-5B0F-C147-8636-C6B90A0815B3}"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107AD887-69C5-A940-951E-13EB0F01A0E1}" type="slidenum">
              <a:rPr kumimoji="1" lang="zh-CN" altLang="en-US" smtClean="0"/>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smtClean="0"/>
              <a:t>单击此处编辑母版文本样式</a:t>
            </a:r>
            <a:endParaRPr kumimoji="1"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smtClean="0"/>
              <a:t>单击此处编辑母版文本样式</a:t>
            </a:r>
            <a:endParaRPr kumimoji="1"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7" name="日期占位符 6"/>
          <p:cNvSpPr>
            <a:spLocks noGrp="1"/>
          </p:cNvSpPr>
          <p:nvPr>
            <p:ph type="dt" sz="half" idx="10"/>
          </p:nvPr>
        </p:nvSpPr>
        <p:spPr/>
        <p:txBody>
          <a:bodyPr/>
          <a:lstStyle/>
          <a:p>
            <a:fld id="{08BC7FCC-5B0F-C147-8636-C6B90A0815B3}" type="datetimeFigureOut">
              <a:rPr kumimoji="1" lang="zh-CN" altLang="en-US" smtClean="0"/>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107AD887-69C5-A940-951E-13EB0F01A0E1}" type="slidenum">
              <a:rPr kumimoji="1" lang="zh-CN" altLang="en-US" smtClean="0"/>
            </a:fld>
            <a:endParaRPr kumimoji="1"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日期占位符 2"/>
          <p:cNvSpPr>
            <a:spLocks noGrp="1"/>
          </p:cNvSpPr>
          <p:nvPr>
            <p:ph type="dt" sz="half" idx="10"/>
          </p:nvPr>
        </p:nvSpPr>
        <p:spPr/>
        <p:txBody>
          <a:bodyPr/>
          <a:lstStyle/>
          <a:p>
            <a:fld id="{08BC7FCC-5B0F-C147-8636-C6B90A0815B3}"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107AD887-69C5-A940-951E-13EB0F01A0E1}" type="slidenum">
              <a:rPr kumimoji="1" lang="zh-CN" altLang="en-US" smtClean="0"/>
            </a:fld>
            <a:endParaRPr kumimoji="1"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8BC7FCC-5B0F-C147-8636-C6B90A0815B3}" type="datetimeFigureOut">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107AD887-69C5-A940-951E-13EB0F01A0E1}" type="slidenum">
              <a:rPr kumimoji="1" lang="zh-CN" altLang="en-US" smtClean="0"/>
            </a:fld>
            <a:endParaRPr kumimoji="1"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smtClean="0"/>
              <a:t>单击此处编辑母版标题样式</a:t>
            </a:r>
            <a:endParaRPr kumimoji="1"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smtClean="0"/>
              <a:t>单击此处编辑母版文本样式</a:t>
            </a:r>
            <a:endParaRPr kumimoji="1" lang="zh-CN" altLang="en-US" smtClean="0"/>
          </a:p>
        </p:txBody>
      </p:sp>
      <p:sp>
        <p:nvSpPr>
          <p:cNvPr id="5" name="日期占位符 4"/>
          <p:cNvSpPr>
            <a:spLocks noGrp="1"/>
          </p:cNvSpPr>
          <p:nvPr>
            <p:ph type="dt" sz="half" idx="10"/>
          </p:nvPr>
        </p:nvSpPr>
        <p:spPr/>
        <p:txBody>
          <a:bodyPr/>
          <a:lstStyle/>
          <a:p>
            <a:fld id="{08BC7FCC-5B0F-C147-8636-C6B90A0815B3}"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107AD887-69C5-A940-951E-13EB0F01A0E1}" type="slidenum">
              <a:rPr kumimoji="1" lang="zh-CN" altLang="en-US" smtClean="0"/>
            </a:fld>
            <a:endParaRPr kumimoji="1" lang="zh-CN" alt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smtClean="0"/>
              <a:t>单击此处编辑母版标题样式</a:t>
            </a:r>
            <a:endParaRPr kumimoji="1"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smtClean="0"/>
              <a:t>单击此处编辑母版文本样式</a:t>
            </a:r>
            <a:endParaRPr kumimoji="1" lang="zh-CN" altLang="en-US" smtClean="0"/>
          </a:p>
        </p:txBody>
      </p:sp>
      <p:sp>
        <p:nvSpPr>
          <p:cNvPr id="5" name="日期占位符 4"/>
          <p:cNvSpPr>
            <a:spLocks noGrp="1"/>
          </p:cNvSpPr>
          <p:nvPr>
            <p:ph type="dt" sz="half" idx="10"/>
          </p:nvPr>
        </p:nvSpPr>
        <p:spPr/>
        <p:txBody>
          <a:bodyPr/>
          <a:lstStyle/>
          <a:p>
            <a:fld id="{08BC7FCC-5B0F-C147-8636-C6B90A0815B3}"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107AD887-69C5-A940-951E-13EB0F01A0E1}" type="slidenum">
              <a:rPr kumimoji="1" lang="zh-CN" altLang="en-US" smtClean="0"/>
            </a:fld>
            <a:endParaRPr kumimoji="1" lang="zh-CN" alt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竖排文本占位符 2"/>
          <p:cNvSpPr>
            <a:spLocks noGrp="1"/>
          </p:cNvSpPr>
          <p:nvPr>
            <p:ph type="body" orient="vert" idx="1"/>
          </p:nvPr>
        </p:nvSpPr>
        <p:spPr/>
        <p:txBody>
          <a:bodyPr vert="eaVert"/>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08BC7FCC-5B0F-C147-8636-C6B90A0815B3}"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107AD887-69C5-A940-951E-13EB0F01A0E1}" type="slidenum">
              <a:rPr kumimoji="1" lang="zh-CN" altLang="en-US" smtClean="0"/>
            </a:fld>
            <a:endParaRPr kumimoji="1" lang="zh-CN" alt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smtClean="0"/>
              <a:t>单击此处编辑母版标题样式</a:t>
            </a:r>
            <a:endParaRPr kumimoji="1" lang="zh-CN" altLang="en-US"/>
          </a:p>
        </p:txBody>
      </p:sp>
      <p:sp>
        <p:nvSpPr>
          <p:cNvPr id="3" name="竖排文本占位符 2"/>
          <p:cNvSpPr>
            <a:spLocks noGrp="1"/>
          </p:cNvSpPr>
          <p:nvPr>
            <p:ph type="body" orient="vert" idx="1"/>
          </p:nvPr>
        </p:nvSpPr>
        <p:spPr>
          <a:xfrm>
            <a:off x="838200" y="365125"/>
            <a:ext cx="7734300" cy="5811838"/>
          </a:xfrm>
        </p:spPr>
        <p:txBody>
          <a:bodyPr vert="eaVert"/>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08BC7FCC-5B0F-C147-8636-C6B90A0815B3}"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107AD887-69C5-A940-951E-13EB0F01A0E1}" type="slidenum">
              <a:rPr kumimoji="1" lang="zh-CN" altLang="en-US" smtClean="0"/>
            </a:fld>
            <a:endParaRPr kumimoji="1" lang="zh-CN" alt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609600" y="6356351"/>
            <a:ext cx="2844800" cy="365125"/>
          </a:xfrm>
        </p:spPr>
        <p:txBody>
          <a:bodyPr/>
          <a:lstStyle>
            <a:lvl1pPr>
              <a:defRPr/>
            </a:lvl1pPr>
          </a:lstStyle>
          <a:p>
            <a:fld id="{80CB2868-F4E4-4C25-A4E4-F2E706553C16}" type="datetime1">
              <a:rPr lang="zh-CN" altLang="en-US"/>
            </a:fld>
            <a:endParaRPr lang="zh-CN" altLang="en-US" sz="1800">
              <a:solidFill>
                <a:schemeClr val="tx1"/>
              </a:solidFill>
              <a:latin typeface="Arial" panose="020B0604020202020204" pitchFamily="34" charset="0"/>
            </a:endParaRPr>
          </a:p>
        </p:txBody>
      </p:sp>
      <p:sp>
        <p:nvSpPr>
          <p:cNvPr id="4" name="页脚占位符 3"/>
          <p:cNvSpPr>
            <a:spLocks noGrp="1"/>
          </p:cNvSpPr>
          <p:nvPr>
            <p:ph type="ftr" sz="quarter" idx="11"/>
          </p:nvPr>
        </p:nvSpPr>
        <p:spPr>
          <a:xfrm>
            <a:off x="4165600" y="6356351"/>
            <a:ext cx="3860800" cy="365125"/>
          </a:xfrm>
        </p:spPr>
        <p:txBody>
          <a:bodyPr/>
          <a:lstStyle>
            <a:lvl1pPr>
              <a:defRPr/>
            </a:lvl1pPr>
          </a:lstStyle>
          <a:p>
            <a:endParaRPr lang="zh-CN" altLang="zh-CN"/>
          </a:p>
        </p:txBody>
      </p:sp>
      <p:sp>
        <p:nvSpPr>
          <p:cNvPr id="5" name="灯片编号占位符 4"/>
          <p:cNvSpPr>
            <a:spLocks noGrp="1"/>
          </p:cNvSpPr>
          <p:nvPr>
            <p:ph type="sldNum" sz="quarter" idx="12"/>
          </p:nvPr>
        </p:nvSpPr>
        <p:spPr>
          <a:xfrm>
            <a:off x="8737600" y="6356351"/>
            <a:ext cx="2844800" cy="365125"/>
          </a:xfrm>
        </p:spPr>
        <p:txBody>
          <a:bodyPr/>
          <a:lstStyle>
            <a:lvl1pPr>
              <a:defRPr/>
            </a:lvl1pPr>
          </a:lstStyle>
          <a:p>
            <a:fld id="{450669B4-A31B-46F4-9A88-A03BAF3D96A5}" type="slidenum">
              <a:rPr lang="zh-CN" altLang="en-US"/>
            </a:fld>
            <a:endParaRPr lang="zh-CN" altLang="en-US" sz="1800">
              <a:solidFill>
                <a:schemeClr val="tx1"/>
              </a:solidFill>
              <a:latin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699C200-8E40-4A20-BC18-9427FB325ECF}"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7FB29CE-9BFD-41FF-8901-5225759FDC4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699C200-8E40-4A20-BC18-9427FB325EC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7FB29CE-9BFD-41FF-8901-5225759FDC4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699C200-8E40-4A20-BC18-9427FB325EC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7FB29CE-9BFD-41FF-8901-5225759FDC4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8699C200-8E40-4A20-BC18-9427FB325EC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7FB29CE-9BFD-41FF-8901-5225759FDC4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8699C200-8E40-4A20-BC18-9427FB325EC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7FB29CE-9BFD-41FF-8901-5225759FDC4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8699C200-8E40-4A20-BC18-9427FB325ECF}"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7FB29CE-9BFD-41FF-8901-5225759FDC4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699C200-8E40-4A20-BC18-9427FB325ECF}"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7FB29CE-9BFD-41FF-8901-5225759FDC4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8699C200-8E40-4A20-BC18-9427FB325EC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7FB29CE-9BFD-41FF-8901-5225759FDC4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699C200-8E40-4A20-BC18-9427FB325EC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7FB29CE-9BFD-41FF-8901-5225759FDC4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tags" Target="../tags/tag3.xml"/><Relationship Id="rId12" Type="http://schemas.openxmlformats.org/officeDocument/2006/relationships/tags" Target="../tags/tag2.xml"/><Relationship Id="rId11" Type="http://schemas.openxmlformats.org/officeDocument/2006/relationships/tags" Target="../tags/tag1.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BC7FCC-5B0F-C147-8636-C6B90A0815B3}" type="datetimeFigureOut">
              <a:rPr kumimoji="1" lang="zh-CN" altLang="en-US" smtClean="0"/>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7AD887-69C5-A940-951E-13EB0F01A0E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1"/>
            </p:custDataLst>
          </p:nvPr>
        </p:nvSpPr>
        <p:spPr>
          <a:xfrm>
            <a:off x="661851" y="1"/>
            <a:ext cx="10859589" cy="1027610"/>
          </a:xfrm>
          <a:prstGeom prst="rect">
            <a:avLst/>
          </a:prstGeom>
        </p:spPr>
        <p:txBody>
          <a:bodyPr vert="horz" lIns="91440" tIns="45720" rIns="91440" bIns="4572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2"/>
            </p:custDataLst>
          </p:nvPr>
        </p:nvSpPr>
        <p:spPr>
          <a:xfrm>
            <a:off x="653143" y="1132114"/>
            <a:ext cx="10868297" cy="5007429"/>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61852" y="6244046"/>
            <a:ext cx="2743200" cy="235131"/>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dirty="0"/>
          </a:p>
        </p:txBody>
      </p:sp>
      <p:sp>
        <p:nvSpPr>
          <p:cNvPr id="5" name="页脚占位符 4"/>
          <p:cNvSpPr>
            <a:spLocks noGrp="1"/>
          </p:cNvSpPr>
          <p:nvPr>
            <p:ph type="ftr" sz="quarter" idx="3"/>
          </p:nvPr>
        </p:nvSpPr>
        <p:spPr>
          <a:xfrm>
            <a:off x="4038600" y="6244046"/>
            <a:ext cx="4114800" cy="23513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nvPr>
        </p:nvSpPr>
        <p:spPr>
          <a:xfrm>
            <a:off x="8769531" y="6244047"/>
            <a:ext cx="2751909" cy="243840"/>
          </a:xfrm>
          <a:prstGeom prst="rect">
            <a:avLst/>
          </a:prstGeom>
        </p:spPr>
        <p:txBody>
          <a:bodyPr vert="horz" lIns="91440" tIns="45720" rIns="91440" bIns="45720" rtlCol="0" anchor="ctr"/>
          <a:lstStyle>
            <a:lvl1pPr algn="r">
              <a:defRPr sz="900">
                <a:solidFill>
                  <a:schemeClr val="tx1">
                    <a:tint val="75000"/>
                  </a:schemeClr>
                </a:solidFill>
              </a:defRPr>
            </a:lvl1pPr>
          </a:lstStyle>
          <a:p>
            <a:fld id="{77FB29CE-9BFD-41FF-8901-5225759FDC4D}" type="slidenum">
              <a:rPr lang="zh-CN" altLang="en-US" smtClean="0"/>
            </a:fld>
            <a:endParaRPr lang="zh-CN" altLang="en-US" dirty="0"/>
          </a:p>
        </p:txBody>
      </p:sp>
      <p:sp>
        <p:nvSpPr>
          <p:cNvPr id="12" name="KSO_TEMPLATE" hidden="1"/>
          <p:cNvSpPr/>
          <p:nvPr>
            <p:custDataLst>
              <p:tags r:id="rId1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timing>
    <p:tnLst>
      <p:par>
        <p:cTn id="1" dur="indefinite" restart="never" nodeType="tmRoot"/>
      </p:par>
    </p:tnLst>
  </p:timing>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hyperlink" Target="file:///E:\&#22362;&#26524;&#20113;&#23384;&#20648;\&#25105;&#30340;&#22362;&#26524;&#20113;\&#26085;&#24120;&#24037;&#20316;&#25991;&#20214;&#22841;\Exampl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Box 5" hidden="1"/>
          <p:cNvSpPr>
            <a:spLocks noChangeArrowheads="1"/>
          </p:cNvSpPr>
          <p:nvPr/>
        </p:nvSpPr>
        <p:spPr bwMode="auto">
          <a:xfrm>
            <a:off x="3463925" y="1954214"/>
            <a:ext cx="1943100" cy="369887"/>
          </a:xfrm>
          <a:prstGeom prst="rect">
            <a:avLst/>
          </a:prstGeom>
          <a:noFill/>
          <a:ln w="9525" cmpd="sng">
            <a:noFill/>
            <a:miter lim="800000"/>
          </a:ln>
        </p:spPr>
        <p:txBody>
          <a:bodyPr>
            <a:sp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点击添加文本</a:t>
            </a:r>
            <a:endParaRPr lang="zh-CN" altLang="en-US"/>
          </a:p>
        </p:txBody>
      </p:sp>
      <p:sp>
        <p:nvSpPr>
          <p:cNvPr id="4100" name="矩形 6" hidden="1"/>
          <p:cNvSpPr>
            <a:spLocks noChangeArrowheads="1"/>
          </p:cNvSpPr>
          <p:nvPr/>
        </p:nvSpPr>
        <p:spPr bwMode="auto">
          <a:xfrm>
            <a:off x="3463926" y="3025776"/>
            <a:ext cx="1471613" cy="646113"/>
          </a:xfrm>
          <a:prstGeom prst="rect">
            <a:avLst/>
          </a:prstGeom>
          <a:noFill/>
          <a:ln w="9525" cmpd="sng">
            <a:noFill/>
            <a:miter lim="800000"/>
          </a:ln>
        </p:spPr>
        <p:txBody>
          <a:bodyPr>
            <a:sp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点击添加文本</a:t>
            </a:r>
            <a:endParaRPr lang="zh-CN" altLang="en-US"/>
          </a:p>
        </p:txBody>
      </p:sp>
      <p:sp>
        <p:nvSpPr>
          <p:cNvPr id="4101" name="矩形 7" hidden="1"/>
          <p:cNvSpPr>
            <a:spLocks noChangeArrowheads="1"/>
          </p:cNvSpPr>
          <p:nvPr/>
        </p:nvSpPr>
        <p:spPr bwMode="auto">
          <a:xfrm>
            <a:off x="3535363" y="4240213"/>
            <a:ext cx="1471612" cy="646112"/>
          </a:xfrm>
          <a:prstGeom prst="rect">
            <a:avLst/>
          </a:prstGeom>
          <a:noFill/>
          <a:ln w="9525" cmpd="sng">
            <a:noFill/>
            <a:miter lim="800000"/>
          </a:ln>
        </p:spPr>
        <p:txBody>
          <a:bodyPr>
            <a:sp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点击添加文本</a:t>
            </a:r>
            <a:endParaRPr lang="zh-CN" altLang="en-US"/>
          </a:p>
        </p:txBody>
      </p:sp>
      <p:sp>
        <p:nvSpPr>
          <p:cNvPr id="4102" name="矩形 8" hidden="1"/>
          <p:cNvSpPr>
            <a:spLocks noChangeArrowheads="1"/>
          </p:cNvSpPr>
          <p:nvPr/>
        </p:nvSpPr>
        <p:spPr bwMode="auto">
          <a:xfrm>
            <a:off x="3535363" y="5526088"/>
            <a:ext cx="1471612" cy="646112"/>
          </a:xfrm>
          <a:prstGeom prst="rect">
            <a:avLst/>
          </a:prstGeom>
          <a:noFill/>
          <a:ln w="9525" cmpd="sng">
            <a:noFill/>
            <a:miter lim="800000"/>
          </a:ln>
        </p:spPr>
        <p:txBody>
          <a:bodyPr>
            <a:sp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点击添加文本</a:t>
            </a:r>
            <a:endParaRPr lang="zh-CN" altLang="en-US"/>
          </a:p>
        </p:txBody>
      </p:sp>
      <p:sp>
        <p:nvSpPr>
          <p:cNvPr id="4104" name="TextBox 28"/>
          <p:cNvSpPr>
            <a:spLocks noChangeArrowheads="1"/>
          </p:cNvSpPr>
          <p:nvPr/>
        </p:nvSpPr>
        <p:spPr bwMode="auto">
          <a:xfrm>
            <a:off x="2674620" y="5003165"/>
            <a:ext cx="6843395" cy="1076325"/>
          </a:xfrm>
          <a:prstGeom prst="rect">
            <a:avLst/>
          </a:prstGeom>
          <a:noFill/>
          <a:ln w="9525" cmpd="sng">
            <a:noFill/>
            <a:miter lim="800000"/>
          </a:ln>
        </p:spPr>
        <p:txBody>
          <a:bodyPr wrap="square">
            <a:spAutoFit/>
          </a:bodyPr>
          <a:lstStyle/>
          <a:p>
            <a:r>
              <a:rPr lang="zh-CN" altLang="en-US" sz="3200" b="1" dirty="0" smtClean="0">
                <a:solidFill>
                  <a:srgbClr val="63065F"/>
                </a:solidFill>
                <a:latin typeface="宋体" panose="02010600030101010101" pitchFamily="2" charset="-122"/>
                <a:ea typeface="宋体" panose="02010600030101010101" pitchFamily="2" charset="-122"/>
                <a:cs typeface="宋体" panose="02010600030101010101" pitchFamily="2" charset="-122"/>
                <a:sym typeface="微软雅黑" panose="020B0503020204020204" pitchFamily="34" charset="-122"/>
              </a:rPr>
              <a:t>课程助教：朱红</a:t>
            </a:r>
            <a:r>
              <a:rPr lang="zh-CN" altLang="en-US" sz="3200" b="1" dirty="0" smtClean="0">
                <a:solidFill>
                  <a:srgbClr val="63065F"/>
                </a:solidFill>
                <a:latin typeface="宋体" panose="02010600030101010101" pitchFamily="2" charset="-122"/>
                <a:ea typeface="宋体" panose="02010600030101010101" pitchFamily="2" charset="-122"/>
                <a:cs typeface="宋体" panose="02010600030101010101" pitchFamily="2" charset="-122"/>
                <a:sym typeface="微软雅黑" panose="020B0503020204020204" pitchFamily="34" charset="-122"/>
              </a:rPr>
              <a:t>兵</a:t>
            </a:r>
            <a:endParaRPr lang="zh-CN" altLang="en-US" sz="3200" b="1" dirty="0" smtClean="0">
              <a:solidFill>
                <a:srgbClr val="63065F"/>
              </a:solidFill>
              <a:latin typeface="宋体" panose="02010600030101010101" pitchFamily="2" charset="-122"/>
              <a:ea typeface="宋体" panose="02010600030101010101" pitchFamily="2" charset="-122"/>
              <a:cs typeface="宋体" panose="02010600030101010101" pitchFamily="2" charset="-122"/>
              <a:sym typeface="微软雅黑" panose="020B0503020204020204" pitchFamily="34" charset="-122"/>
            </a:endParaRPr>
          </a:p>
          <a:p>
            <a:r>
              <a:rPr lang="zh-CN" altLang="en-US" sz="3200" b="1" dirty="0" smtClean="0">
                <a:solidFill>
                  <a:srgbClr val="63065F"/>
                </a:solidFill>
                <a:latin typeface="宋体" panose="02010600030101010101" pitchFamily="2" charset="-122"/>
                <a:ea typeface="宋体" panose="02010600030101010101" pitchFamily="2" charset="-122"/>
                <a:cs typeface="宋体" panose="02010600030101010101" pitchFamily="2" charset="-122"/>
                <a:sym typeface="微软雅黑" panose="020B0503020204020204" pitchFamily="34" charset="-122"/>
              </a:rPr>
              <a:t>电子邮箱：</a:t>
            </a:r>
            <a:r>
              <a:rPr lang="en-US" sz="3200" b="1" dirty="0" smtClean="0">
                <a:solidFill>
                  <a:srgbClr val="63065F"/>
                </a:solidFill>
                <a:latin typeface="宋体" panose="02010600030101010101" pitchFamily="2" charset="-122"/>
                <a:ea typeface="宋体" panose="02010600030101010101" pitchFamily="2" charset="-122"/>
                <a:cs typeface="宋体" panose="02010600030101010101" pitchFamily="2" charset="-122"/>
                <a:sym typeface="微软雅黑" panose="020B0503020204020204" pitchFamily="34" charset="-122"/>
              </a:rPr>
              <a:t>zhuhong_bing@163.com</a:t>
            </a:r>
            <a:endParaRPr lang="en-US" sz="3200" b="1" dirty="0">
              <a:solidFill>
                <a:srgbClr val="63065F"/>
              </a:solidFill>
              <a:latin typeface="宋体" panose="02010600030101010101" pitchFamily="2" charset="-122"/>
              <a:ea typeface="宋体" panose="02010600030101010101" pitchFamily="2" charset="-122"/>
              <a:cs typeface="宋体" panose="02010600030101010101" pitchFamily="2" charset="-122"/>
            </a:endParaRPr>
          </a:p>
        </p:txBody>
      </p:sp>
      <p:sp>
        <p:nvSpPr>
          <p:cNvPr id="15" name="TextBox 14"/>
          <p:cNvSpPr txBox="1"/>
          <p:nvPr/>
        </p:nvSpPr>
        <p:spPr>
          <a:xfrm>
            <a:off x="2592705" y="1740535"/>
            <a:ext cx="7479030" cy="2030095"/>
          </a:xfrm>
          <a:prstGeom prst="rect">
            <a:avLst/>
          </a:prstGeom>
          <a:noFill/>
        </p:spPr>
        <p:txBody>
          <a:bodyPr wrap="square" rtlCol="0">
            <a:spAutoFit/>
          </a:bodyPr>
          <a:lstStyle/>
          <a:p>
            <a:pPr>
              <a:lnSpc>
                <a:spcPct val="150000"/>
              </a:lnSpc>
            </a:pPr>
            <a:r>
              <a:rPr lang="zh-CN" altLang="en-US" sz="4400" b="1" dirty="0">
                <a:solidFill>
                  <a:srgbClr val="6E0F6D"/>
                </a:solidFill>
                <a:latin typeface="华文中宋" panose="02010600040101010101" charset="-122"/>
                <a:ea typeface="华文中宋" panose="02010600040101010101" charset="-122"/>
                <a:cs typeface="华文中宋" panose="02010600040101010101" charset="-122"/>
              </a:rPr>
              <a:t>金融实证研究方法课程</a:t>
            </a:r>
            <a:endParaRPr lang="zh-CN" altLang="en-US" sz="4000" b="1" dirty="0">
              <a:solidFill>
                <a:srgbClr val="6E0F6D"/>
              </a:solidFill>
              <a:latin typeface="华文中宋" panose="02010600040101010101" charset="-122"/>
              <a:ea typeface="华文中宋" panose="02010600040101010101" charset="-122"/>
              <a:cs typeface="华文中宋" panose="02010600040101010101" charset="-122"/>
            </a:endParaRPr>
          </a:p>
          <a:p>
            <a:pPr>
              <a:lnSpc>
                <a:spcPct val="150000"/>
              </a:lnSpc>
            </a:pPr>
            <a:r>
              <a:rPr lang="en-US" altLang="zh-CN" sz="4000" b="1" dirty="0">
                <a:solidFill>
                  <a:srgbClr val="6E0F6D"/>
                </a:solidFill>
                <a:latin typeface="华文中宋" panose="02010600040101010101" charset="-122"/>
                <a:ea typeface="华文中宋" panose="02010600040101010101" charset="-122"/>
                <a:cs typeface="华文中宋" panose="02010600040101010101" charset="-122"/>
              </a:rPr>
              <a:t>——STATA</a:t>
            </a:r>
            <a:r>
              <a:rPr lang="zh-CN" altLang="en-US" sz="4000" b="1" dirty="0">
                <a:solidFill>
                  <a:srgbClr val="6E0F6D"/>
                </a:solidFill>
                <a:latin typeface="华文中宋" panose="02010600040101010101" charset="-122"/>
                <a:ea typeface="华文中宋" panose="02010600040101010101" charset="-122"/>
                <a:cs typeface="华文中宋" panose="02010600040101010101" charset="-122"/>
              </a:rPr>
              <a:t>上机实践</a:t>
            </a:r>
            <a:endParaRPr lang="zh-CN" altLang="en-US" sz="4000" b="1" dirty="0" smtClean="0">
              <a:solidFill>
                <a:srgbClr val="6E0F6D"/>
              </a:solidFill>
              <a:effectLst/>
              <a:latin typeface="华文中宋" panose="02010600040101010101" charset="-122"/>
              <a:ea typeface="华文中宋" panose="02010600040101010101" charset="-122"/>
              <a:cs typeface="华文中宋" panose="02010600040101010101" charset="-122"/>
            </a:endParaRPr>
          </a:p>
        </p:txBody>
      </p:sp>
      <p:grpSp>
        <p:nvGrpSpPr>
          <p:cNvPr id="8" name="组合 7"/>
          <p:cNvGrpSpPr/>
          <p:nvPr/>
        </p:nvGrpSpPr>
        <p:grpSpPr>
          <a:xfrm>
            <a:off x="0" y="66040"/>
            <a:ext cx="12192000" cy="136525"/>
            <a:chOff x="0" y="104"/>
            <a:chExt cx="19200" cy="215"/>
          </a:xfrm>
        </p:grpSpPr>
        <p:cxnSp>
          <p:nvCxnSpPr>
            <p:cNvPr id="3" name="直线连接符 2"/>
            <p:cNvCxnSpPr/>
            <p:nvPr/>
          </p:nvCxnSpPr>
          <p:spPr>
            <a:xfrm>
              <a:off x="0" y="104"/>
              <a:ext cx="19200" cy="0"/>
            </a:xfrm>
            <a:prstGeom prst="line">
              <a:avLst/>
            </a:prstGeom>
            <a:ln w="127000">
              <a:solidFill>
                <a:srgbClr val="63065F"/>
              </a:solidFill>
            </a:ln>
          </p:spPr>
          <p:style>
            <a:lnRef idx="1">
              <a:schemeClr val="accent1"/>
            </a:lnRef>
            <a:fillRef idx="0">
              <a:schemeClr val="accent1"/>
            </a:fillRef>
            <a:effectRef idx="0">
              <a:schemeClr val="accent1"/>
            </a:effectRef>
            <a:fontRef idx="minor">
              <a:schemeClr val="tx1"/>
            </a:fontRef>
          </p:style>
        </p:cxnSp>
        <p:cxnSp>
          <p:nvCxnSpPr>
            <p:cNvPr id="2" name="直线连接符 2"/>
            <p:cNvCxnSpPr/>
            <p:nvPr/>
          </p:nvCxnSpPr>
          <p:spPr>
            <a:xfrm>
              <a:off x="0" y="319"/>
              <a:ext cx="19200" cy="0"/>
            </a:xfrm>
            <a:prstGeom prst="line">
              <a:avLst/>
            </a:prstGeom>
            <a:ln w="127000">
              <a:solidFill>
                <a:srgbClr val="63065F"/>
              </a:solidFill>
            </a:ln>
          </p:spPr>
          <p:style>
            <a:lnRef idx="1">
              <a:schemeClr val="accent1"/>
            </a:lnRef>
            <a:fillRef idx="0">
              <a:schemeClr val="accent1"/>
            </a:fillRef>
            <a:effectRef idx="0">
              <a:schemeClr val="accent1"/>
            </a:effectRef>
            <a:fontRef idx="minor">
              <a:schemeClr val="tx1"/>
            </a:fontRef>
          </p:style>
        </p:cxnSp>
      </p:grpSp>
      <p:grpSp>
        <p:nvGrpSpPr>
          <p:cNvPr id="7" name="组合 6"/>
          <p:cNvGrpSpPr/>
          <p:nvPr/>
        </p:nvGrpSpPr>
        <p:grpSpPr>
          <a:xfrm>
            <a:off x="0" y="6657975"/>
            <a:ext cx="12192000" cy="136525"/>
            <a:chOff x="0" y="10485"/>
            <a:chExt cx="19200" cy="215"/>
          </a:xfrm>
        </p:grpSpPr>
        <p:cxnSp>
          <p:nvCxnSpPr>
            <p:cNvPr id="4" name="直线连接符 2"/>
            <p:cNvCxnSpPr/>
            <p:nvPr/>
          </p:nvCxnSpPr>
          <p:spPr>
            <a:xfrm>
              <a:off x="0" y="10485"/>
              <a:ext cx="19200" cy="0"/>
            </a:xfrm>
            <a:prstGeom prst="line">
              <a:avLst/>
            </a:prstGeom>
            <a:ln w="127000">
              <a:solidFill>
                <a:srgbClr val="63065F"/>
              </a:solidFill>
            </a:ln>
          </p:spPr>
          <p:style>
            <a:lnRef idx="1">
              <a:schemeClr val="accent1"/>
            </a:lnRef>
            <a:fillRef idx="0">
              <a:schemeClr val="accent1"/>
            </a:fillRef>
            <a:effectRef idx="0">
              <a:schemeClr val="accent1"/>
            </a:effectRef>
            <a:fontRef idx="minor">
              <a:schemeClr val="tx1"/>
            </a:fontRef>
          </p:style>
        </p:cxnSp>
        <p:cxnSp>
          <p:nvCxnSpPr>
            <p:cNvPr id="5" name="直线连接符 2"/>
            <p:cNvCxnSpPr/>
            <p:nvPr/>
          </p:nvCxnSpPr>
          <p:spPr>
            <a:xfrm>
              <a:off x="0" y="10700"/>
              <a:ext cx="19200" cy="0"/>
            </a:xfrm>
            <a:prstGeom prst="line">
              <a:avLst/>
            </a:prstGeom>
            <a:ln w="127000">
              <a:solidFill>
                <a:srgbClr val="63065F"/>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3"/>
          <p:cNvSpPr>
            <a:spLocks noChangeArrowheads="1"/>
          </p:cNvSpPr>
          <p:nvPr/>
        </p:nvSpPr>
        <p:spPr bwMode="auto">
          <a:xfrm>
            <a:off x="0" y="1059"/>
            <a:ext cx="3962456" cy="6855884"/>
          </a:xfrm>
          <a:prstGeom prst="rect">
            <a:avLst/>
          </a:prstGeom>
          <a:solidFill>
            <a:srgbClr val="6E0F6D"/>
          </a:solidFill>
          <a:ln>
            <a:noFill/>
          </a:ln>
          <a:effectLst/>
        </p:spPr>
        <p:txBody>
          <a:bodyPr wrap="none" anchor="ctr"/>
          <a:lstStyle/>
          <a:p>
            <a:endParaRPr lang="zh-CN" altLang="en-US" sz="2400"/>
          </a:p>
        </p:txBody>
      </p:sp>
      <p:sp>
        <p:nvSpPr>
          <p:cNvPr id="5141" name="Line 29"/>
          <p:cNvSpPr>
            <a:spLocks noChangeShapeType="1"/>
          </p:cNvSpPr>
          <p:nvPr/>
        </p:nvSpPr>
        <p:spPr bwMode="auto">
          <a:xfrm>
            <a:off x="508147" y="2718864"/>
            <a:ext cx="3048000" cy="0"/>
          </a:xfrm>
          <a:prstGeom prst="line">
            <a:avLst/>
          </a:prstGeom>
          <a:noFill/>
          <a:ln w="635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5144" name="Line 32"/>
          <p:cNvSpPr>
            <a:spLocks noChangeShapeType="1"/>
          </p:cNvSpPr>
          <p:nvPr/>
        </p:nvSpPr>
        <p:spPr bwMode="auto">
          <a:xfrm>
            <a:off x="508147" y="3775081"/>
            <a:ext cx="3048000" cy="0"/>
          </a:xfrm>
          <a:prstGeom prst="line">
            <a:avLst/>
          </a:prstGeom>
          <a:noFill/>
          <a:ln w="635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33" name="TextBox 32"/>
          <p:cNvSpPr txBox="1"/>
          <p:nvPr/>
        </p:nvSpPr>
        <p:spPr>
          <a:xfrm>
            <a:off x="508147" y="2717819"/>
            <a:ext cx="1622560" cy="666786"/>
          </a:xfrm>
          <a:prstGeom prst="rect">
            <a:avLst/>
          </a:prstGeom>
          <a:noFill/>
        </p:spPr>
        <p:txBody>
          <a:bodyPr wrap="none" rtlCol="0">
            <a:spAutoFit/>
          </a:bodyPr>
          <a:lstStyle>
            <a:defPPr>
              <a:defRPr lang="zh-CN"/>
            </a:defPPr>
            <a:lvl1pPr>
              <a:defRPr sz="4000" b="1">
                <a:solidFill>
                  <a:schemeClr val="bg1"/>
                </a:solidFill>
                <a:latin typeface="微软雅黑" panose="020B0503020204020204" pitchFamily="34" charset="-122"/>
                <a:ea typeface="微软雅黑" panose="020B0503020204020204" pitchFamily="34" charset="-122"/>
              </a:defRPr>
            </a:lvl1pPr>
          </a:lstStyle>
          <a:p>
            <a:r>
              <a:rPr lang="zh-CN" altLang="en-US" sz="3735" dirty="0"/>
              <a:t>目录页</a:t>
            </a:r>
            <a:endParaRPr lang="zh-CN" altLang="en-US" sz="3735" dirty="0"/>
          </a:p>
        </p:txBody>
      </p:sp>
      <p:sp>
        <p:nvSpPr>
          <p:cNvPr id="34" name="TextBox 33"/>
          <p:cNvSpPr txBox="1"/>
          <p:nvPr/>
        </p:nvSpPr>
        <p:spPr>
          <a:xfrm rot="21560070">
            <a:off x="510908" y="3311225"/>
            <a:ext cx="2989081"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l"/>
            <a:r>
              <a:rPr lang="en-US" altLang="zh-CN" sz="1865" b="1" dirty="0">
                <a:solidFill>
                  <a:schemeClr val="bg1"/>
                </a:solidFill>
              </a:rPr>
              <a:t>CONTENTS   PAGE </a:t>
            </a:r>
            <a:endParaRPr lang="en-US" altLang="zh-CN" sz="1865" b="1" dirty="0">
              <a:solidFill>
                <a:schemeClr val="bg1"/>
              </a:solidFill>
            </a:endParaRPr>
          </a:p>
        </p:txBody>
      </p:sp>
      <p:grpSp>
        <p:nvGrpSpPr>
          <p:cNvPr id="28" name="组合 27"/>
          <p:cNvGrpSpPr/>
          <p:nvPr/>
        </p:nvGrpSpPr>
        <p:grpSpPr>
          <a:xfrm>
            <a:off x="5254530" y="1719836"/>
            <a:ext cx="695079" cy="618845"/>
            <a:chOff x="4968752" y="546100"/>
            <a:chExt cx="652600" cy="581025"/>
          </a:xfrm>
        </p:grpSpPr>
        <p:sp>
          <p:nvSpPr>
            <p:cNvPr id="29" name="Oval 6"/>
            <p:cNvSpPr>
              <a:spLocks noChangeArrowheads="1"/>
            </p:cNvSpPr>
            <p:nvPr/>
          </p:nvSpPr>
          <p:spPr bwMode="auto">
            <a:xfrm>
              <a:off x="4968752" y="546100"/>
              <a:ext cx="581024" cy="581025"/>
            </a:xfrm>
            <a:prstGeom prst="ellipse">
              <a:avLst/>
            </a:prstGeom>
            <a:solidFill>
              <a:srgbClr val="6E0F6D"/>
            </a:solidFill>
            <a:ln w="12700">
              <a:noFill/>
              <a:round/>
            </a:ln>
          </p:spPr>
          <p:txBody>
            <a:bodyPr/>
            <a:lstStyle/>
            <a:p>
              <a:endParaRPr lang="zh-CN" altLang="en-US" sz="2400">
                <a:solidFill>
                  <a:schemeClr val="bg1"/>
                </a:solidFill>
              </a:endParaRPr>
            </a:p>
          </p:txBody>
        </p:sp>
        <p:sp>
          <p:nvSpPr>
            <p:cNvPr id="30" name="Text Box 24"/>
            <p:cNvSpPr txBox="1">
              <a:spLocks noChangeArrowheads="1"/>
            </p:cNvSpPr>
            <p:nvPr/>
          </p:nvSpPr>
          <p:spPr bwMode="auto">
            <a:xfrm>
              <a:off x="5089772" y="594684"/>
              <a:ext cx="531580" cy="472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665" b="1" smtClean="0">
                  <a:solidFill>
                    <a:schemeClr val="bg1"/>
                  </a:solidFill>
                </a:rPr>
                <a:t>1</a:t>
              </a:r>
              <a:endParaRPr lang="zh-CN" altLang="zh-CN" sz="2665" b="1" dirty="0">
                <a:solidFill>
                  <a:schemeClr val="bg1"/>
                </a:solidFill>
              </a:endParaRPr>
            </a:p>
          </p:txBody>
        </p:sp>
      </p:grpSp>
      <p:sp>
        <p:nvSpPr>
          <p:cNvPr id="31" name="TextBox 30"/>
          <p:cNvSpPr txBox="1"/>
          <p:nvPr/>
        </p:nvSpPr>
        <p:spPr>
          <a:xfrm>
            <a:off x="6068374" y="1762520"/>
            <a:ext cx="4851103" cy="420370"/>
          </a:xfrm>
          <a:prstGeom prst="rect">
            <a:avLst/>
          </a:prstGeom>
          <a:noFill/>
          <a:effectLst/>
        </p:spPr>
        <p:txBody>
          <a:bodyPr wrap="square" rtlCol="0">
            <a:spAutoFit/>
          </a:bodyPr>
          <a:lstStyle/>
          <a:p>
            <a:r>
              <a:rPr lang="en-US" altLang="zh-CN" sz="2135" b="1" dirty="0" smtClean="0">
                <a:solidFill>
                  <a:schemeClr val="tx1">
                    <a:lumMod val="95000"/>
                    <a:lumOff val="5000"/>
                  </a:schemeClr>
                </a:solidFill>
                <a:latin typeface="微软雅黑" panose="020B0503020204020204" pitchFamily="34" charset="-122"/>
                <a:ea typeface="微软雅黑" panose="020B0503020204020204" pitchFamily="34" charset="-122"/>
              </a:rPr>
              <a:t>STATA</a:t>
            </a:r>
            <a:r>
              <a:rPr lang="zh-CN" altLang="en-US" sz="2135" b="1" dirty="0" smtClean="0">
                <a:solidFill>
                  <a:schemeClr val="tx1">
                    <a:lumMod val="95000"/>
                    <a:lumOff val="5000"/>
                  </a:schemeClr>
                </a:solidFill>
                <a:latin typeface="微软雅黑" panose="020B0503020204020204" pitchFamily="34" charset="-122"/>
                <a:ea typeface="微软雅黑" panose="020B0503020204020204" pitchFamily="34" charset="-122"/>
              </a:rPr>
              <a:t>软件介绍</a:t>
            </a:r>
            <a:endParaRPr lang="zh-CN" altLang="en-US" sz="2135" b="1" dirty="0" smtClean="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32" name="组合 31"/>
          <p:cNvGrpSpPr/>
          <p:nvPr/>
        </p:nvGrpSpPr>
        <p:grpSpPr>
          <a:xfrm>
            <a:off x="5254530" y="2632889"/>
            <a:ext cx="618844" cy="618845"/>
            <a:chOff x="4968752" y="546100"/>
            <a:chExt cx="581024" cy="581025"/>
          </a:xfrm>
          <a:solidFill>
            <a:srgbClr val="6E0F6D"/>
          </a:solidFill>
        </p:grpSpPr>
        <p:sp>
          <p:nvSpPr>
            <p:cNvPr id="38" name="Oval 6"/>
            <p:cNvSpPr>
              <a:spLocks noChangeArrowheads="1"/>
            </p:cNvSpPr>
            <p:nvPr/>
          </p:nvSpPr>
          <p:spPr bwMode="auto">
            <a:xfrm>
              <a:off x="4968752" y="546100"/>
              <a:ext cx="581024" cy="581025"/>
            </a:xfrm>
            <a:prstGeom prst="ellipse">
              <a:avLst/>
            </a:prstGeom>
            <a:grpFill/>
            <a:ln w="12700">
              <a:noFill/>
              <a:round/>
            </a:ln>
          </p:spPr>
          <p:txBody>
            <a:bodyPr/>
            <a:lstStyle/>
            <a:p>
              <a:endParaRPr lang="zh-CN" altLang="en-US" sz="2400">
                <a:solidFill>
                  <a:schemeClr val="bg1"/>
                </a:solidFill>
              </a:endParaRPr>
            </a:p>
          </p:txBody>
        </p:sp>
        <p:sp>
          <p:nvSpPr>
            <p:cNvPr id="45" name="Text Box 24"/>
            <p:cNvSpPr txBox="1">
              <a:spLocks noChangeArrowheads="1"/>
            </p:cNvSpPr>
            <p:nvPr/>
          </p:nvSpPr>
          <p:spPr bwMode="auto">
            <a:xfrm>
              <a:off x="5084875" y="609428"/>
              <a:ext cx="352480" cy="405599"/>
            </a:xfrm>
            <a:prstGeom prst="rect">
              <a:avLst/>
            </a:prstGeom>
            <a:gr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65" b="1" smtClean="0">
                  <a:solidFill>
                    <a:schemeClr val="bg1"/>
                  </a:solidFill>
                </a:rPr>
                <a:t>2</a:t>
              </a:r>
              <a:endParaRPr lang="zh-CN" altLang="zh-CN" sz="2665" b="1" dirty="0">
                <a:solidFill>
                  <a:schemeClr val="bg1"/>
                </a:solidFill>
              </a:endParaRPr>
            </a:p>
          </p:txBody>
        </p:sp>
      </p:grpSp>
      <p:sp>
        <p:nvSpPr>
          <p:cNvPr id="46" name="TextBox 45"/>
          <p:cNvSpPr txBox="1"/>
          <p:nvPr/>
        </p:nvSpPr>
        <p:spPr>
          <a:xfrm>
            <a:off x="6078561" y="2709656"/>
            <a:ext cx="4851103" cy="420370"/>
          </a:xfrm>
          <a:prstGeom prst="rect">
            <a:avLst/>
          </a:prstGeom>
          <a:noFill/>
          <a:effectLst/>
        </p:spPr>
        <p:txBody>
          <a:bodyPr wrap="square" rtlCol="0">
            <a:spAutoFit/>
          </a:bodyPr>
          <a:lstStyle/>
          <a:p>
            <a:r>
              <a:rPr lang="zh-CN" altLang="en-US" sz="2135" b="1" dirty="0">
                <a:solidFill>
                  <a:schemeClr val="tx1">
                    <a:lumMod val="95000"/>
                    <a:lumOff val="5000"/>
                  </a:schemeClr>
                </a:solidFill>
                <a:latin typeface="微软雅黑" panose="020B0503020204020204" pitchFamily="34" charset="-122"/>
                <a:ea typeface="微软雅黑" panose="020B0503020204020204" pitchFamily="34" charset="-122"/>
              </a:rPr>
              <a:t>常见的数据结构</a:t>
            </a:r>
            <a:endParaRPr lang="zh-CN" altLang="en-US" sz="2135"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47" name="组合 46"/>
          <p:cNvGrpSpPr/>
          <p:nvPr/>
        </p:nvGrpSpPr>
        <p:grpSpPr>
          <a:xfrm>
            <a:off x="5254530" y="3594095"/>
            <a:ext cx="618844" cy="618845"/>
            <a:chOff x="4968752" y="546100"/>
            <a:chExt cx="581024" cy="581025"/>
          </a:xfrm>
          <a:solidFill>
            <a:srgbClr val="6E0F6D"/>
          </a:solidFill>
        </p:grpSpPr>
        <p:sp>
          <p:nvSpPr>
            <p:cNvPr id="48" name="Oval 6"/>
            <p:cNvSpPr>
              <a:spLocks noChangeArrowheads="1"/>
            </p:cNvSpPr>
            <p:nvPr/>
          </p:nvSpPr>
          <p:spPr bwMode="auto">
            <a:xfrm>
              <a:off x="4968752" y="546100"/>
              <a:ext cx="581024" cy="581025"/>
            </a:xfrm>
            <a:prstGeom prst="ellipse">
              <a:avLst/>
            </a:prstGeom>
            <a:grpFill/>
            <a:ln w="12700">
              <a:noFill/>
              <a:round/>
            </a:ln>
          </p:spPr>
          <p:txBody>
            <a:bodyPr/>
            <a:lstStyle/>
            <a:p>
              <a:endParaRPr lang="zh-CN" altLang="en-US" sz="2400">
                <a:solidFill>
                  <a:schemeClr val="bg1"/>
                </a:solidFill>
              </a:endParaRPr>
            </a:p>
          </p:txBody>
        </p:sp>
        <p:sp>
          <p:nvSpPr>
            <p:cNvPr id="49" name="Text Box 24"/>
            <p:cNvSpPr txBox="1">
              <a:spLocks noChangeArrowheads="1"/>
            </p:cNvSpPr>
            <p:nvPr/>
          </p:nvSpPr>
          <p:spPr bwMode="auto">
            <a:xfrm>
              <a:off x="5084875" y="623585"/>
              <a:ext cx="352480" cy="405599"/>
            </a:xfrm>
            <a:prstGeom prst="rect">
              <a:avLst/>
            </a:prstGeom>
            <a:gr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65" b="1" smtClean="0">
                  <a:solidFill>
                    <a:schemeClr val="bg1"/>
                  </a:solidFill>
                </a:rPr>
                <a:t>3</a:t>
              </a:r>
              <a:endParaRPr lang="zh-CN" altLang="zh-CN" sz="2665" b="1" dirty="0">
                <a:solidFill>
                  <a:schemeClr val="bg1"/>
                </a:solidFill>
              </a:endParaRPr>
            </a:p>
          </p:txBody>
        </p:sp>
      </p:grpSp>
      <p:sp>
        <p:nvSpPr>
          <p:cNvPr id="50" name="TextBox 49"/>
          <p:cNvSpPr txBox="1"/>
          <p:nvPr/>
        </p:nvSpPr>
        <p:spPr>
          <a:xfrm>
            <a:off x="6068375" y="3677814"/>
            <a:ext cx="4851103" cy="420370"/>
          </a:xfrm>
          <a:prstGeom prst="rect">
            <a:avLst/>
          </a:prstGeom>
          <a:noFill/>
          <a:effectLst/>
        </p:spPr>
        <p:txBody>
          <a:bodyPr wrap="square" rtlCol="0">
            <a:spAutoFit/>
          </a:bodyPr>
          <a:lstStyle/>
          <a:p>
            <a:r>
              <a:rPr lang="zh-CN" altLang="en-US" sz="2135" b="1" dirty="0">
                <a:solidFill>
                  <a:schemeClr val="tx1">
                    <a:lumMod val="95000"/>
                    <a:lumOff val="5000"/>
                  </a:schemeClr>
                </a:solidFill>
                <a:latin typeface="微软雅黑" panose="020B0503020204020204" pitchFamily="34" charset="-122"/>
                <a:ea typeface="微软雅黑" panose="020B0503020204020204" pitchFamily="34" charset="-122"/>
              </a:rPr>
              <a:t>面板类回归模型</a:t>
            </a:r>
            <a:endParaRPr lang="zh-CN" altLang="en-US" sz="2135"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51" name="组合 50"/>
          <p:cNvGrpSpPr/>
          <p:nvPr/>
        </p:nvGrpSpPr>
        <p:grpSpPr>
          <a:xfrm>
            <a:off x="5254530" y="4555300"/>
            <a:ext cx="618844" cy="618845"/>
            <a:chOff x="4968752" y="546100"/>
            <a:chExt cx="581024" cy="581025"/>
          </a:xfrm>
          <a:solidFill>
            <a:srgbClr val="6E0F6D"/>
          </a:solidFill>
        </p:grpSpPr>
        <p:sp>
          <p:nvSpPr>
            <p:cNvPr id="52" name="Oval 6"/>
            <p:cNvSpPr>
              <a:spLocks noChangeArrowheads="1"/>
            </p:cNvSpPr>
            <p:nvPr/>
          </p:nvSpPr>
          <p:spPr bwMode="auto">
            <a:xfrm>
              <a:off x="4968752" y="546100"/>
              <a:ext cx="581024" cy="581025"/>
            </a:xfrm>
            <a:prstGeom prst="ellipse">
              <a:avLst/>
            </a:prstGeom>
            <a:grpFill/>
            <a:ln w="12700">
              <a:noFill/>
              <a:round/>
            </a:ln>
          </p:spPr>
          <p:txBody>
            <a:bodyPr/>
            <a:lstStyle/>
            <a:p>
              <a:endParaRPr lang="zh-CN" altLang="en-US" sz="2400">
                <a:solidFill>
                  <a:schemeClr val="bg1"/>
                </a:solidFill>
              </a:endParaRPr>
            </a:p>
          </p:txBody>
        </p:sp>
        <p:sp>
          <p:nvSpPr>
            <p:cNvPr id="53" name="Text Box 24"/>
            <p:cNvSpPr txBox="1">
              <a:spLocks noChangeArrowheads="1"/>
            </p:cNvSpPr>
            <p:nvPr/>
          </p:nvSpPr>
          <p:spPr bwMode="auto">
            <a:xfrm>
              <a:off x="5082642" y="603910"/>
              <a:ext cx="352480" cy="439399"/>
            </a:xfrm>
            <a:prstGeom prst="rect">
              <a:avLst/>
            </a:prstGeom>
            <a:gr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65" b="1" smtClean="0">
                  <a:solidFill>
                    <a:schemeClr val="bg1"/>
                  </a:solidFill>
                </a:rPr>
                <a:t>4</a:t>
              </a:r>
              <a:endParaRPr lang="zh-CN" altLang="zh-CN" sz="2665" b="1" dirty="0">
                <a:solidFill>
                  <a:schemeClr val="bg1"/>
                </a:solidFill>
              </a:endParaRPr>
            </a:p>
          </p:txBody>
        </p:sp>
      </p:grpSp>
      <p:sp>
        <p:nvSpPr>
          <p:cNvPr id="54" name="TextBox 53"/>
          <p:cNvSpPr txBox="1"/>
          <p:nvPr/>
        </p:nvSpPr>
        <p:spPr>
          <a:xfrm>
            <a:off x="6068375" y="4639020"/>
            <a:ext cx="4851103" cy="420370"/>
          </a:xfrm>
          <a:prstGeom prst="rect">
            <a:avLst/>
          </a:prstGeom>
          <a:noFill/>
          <a:effectLst/>
        </p:spPr>
        <p:txBody>
          <a:bodyPr wrap="square" rtlCol="0">
            <a:spAutoFit/>
          </a:bodyPr>
          <a:lstStyle/>
          <a:p>
            <a:r>
              <a:rPr lang="zh-CN" altLang="en-US" sz="2135" b="1" dirty="0">
                <a:solidFill>
                  <a:schemeClr val="tx1">
                    <a:lumMod val="95000"/>
                    <a:lumOff val="5000"/>
                  </a:schemeClr>
                </a:solidFill>
                <a:latin typeface="微软雅黑" panose="020B0503020204020204" pitchFamily="34" charset="-122"/>
                <a:ea typeface="微软雅黑" panose="020B0503020204020204" pitchFamily="34" charset="-122"/>
              </a:rPr>
              <a:t>数据案例的分析</a:t>
            </a:r>
            <a:endParaRPr lang="zh-CN" altLang="en-US" sz="2135"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par>
    </p:tnLst>
    <p:bldLst>
      <p:bldP spid="5125" grpId="0" bldLvl="0" animBg="1"/>
      <p:bldP spid="5141" grpId="0" animBg="1"/>
      <p:bldP spid="5144" grpId="0" animBg="1"/>
      <p:bldP spid="33" grpId="0"/>
      <p:bldP spid="3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6459018" y="2035011"/>
            <a:ext cx="825867" cy="748988"/>
          </a:xfrm>
          <a:prstGeom prst="rect">
            <a:avLst/>
          </a:prstGeom>
          <a:noFill/>
        </p:spPr>
        <p:txBody>
          <a:bodyPr wrap="none" rtlCol="0">
            <a:spAutoFit/>
          </a:bodyPr>
          <a:lstStyle/>
          <a:p>
            <a:r>
              <a:rPr lang="en-US" altLang="zh-CN" sz="4265" dirty="0">
                <a:solidFill>
                  <a:schemeClr val="bg1"/>
                </a:solidFill>
                <a:latin typeface="微软雅黑" panose="020B0503020204020204" pitchFamily="34" charset="-122"/>
                <a:ea typeface="微软雅黑" panose="020B0503020204020204" pitchFamily="34" charset="-122"/>
              </a:rPr>
              <a:t>02</a:t>
            </a:r>
            <a:endParaRPr lang="zh-CN" altLang="en-US" sz="4265" dirty="0">
              <a:solidFill>
                <a:schemeClr val="bg1"/>
              </a:solidFill>
              <a:latin typeface="微软雅黑" panose="020B0503020204020204" pitchFamily="34" charset="-122"/>
              <a:ea typeface="微软雅黑" panose="020B0503020204020204" pitchFamily="34" charset="-122"/>
            </a:endParaRPr>
          </a:p>
        </p:txBody>
      </p:sp>
      <p:sp>
        <p:nvSpPr>
          <p:cNvPr id="38" name="TextBox 37"/>
          <p:cNvSpPr txBox="1"/>
          <p:nvPr/>
        </p:nvSpPr>
        <p:spPr>
          <a:xfrm>
            <a:off x="6459017" y="4442316"/>
            <a:ext cx="825867" cy="748988"/>
          </a:xfrm>
          <a:prstGeom prst="rect">
            <a:avLst/>
          </a:prstGeom>
          <a:noFill/>
        </p:spPr>
        <p:txBody>
          <a:bodyPr wrap="none" rtlCol="0">
            <a:spAutoFit/>
          </a:bodyPr>
          <a:lstStyle/>
          <a:p>
            <a:r>
              <a:rPr lang="en-US" altLang="zh-CN" sz="4265" dirty="0">
                <a:solidFill>
                  <a:schemeClr val="bg1"/>
                </a:solidFill>
                <a:latin typeface="微软雅黑" panose="020B0503020204020204" pitchFamily="34" charset="-122"/>
                <a:ea typeface="微软雅黑" panose="020B0503020204020204" pitchFamily="34" charset="-122"/>
              </a:rPr>
              <a:t>04</a:t>
            </a:r>
            <a:endParaRPr lang="zh-CN" altLang="en-US" sz="4265" dirty="0">
              <a:solidFill>
                <a:schemeClr val="bg1"/>
              </a:solidFill>
              <a:latin typeface="微软雅黑" panose="020B0503020204020204" pitchFamily="34" charset="-122"/>
              <a:ea typeface="微软雅黑" panose="020B0503020204020204" pitchFamily="34" charset="-122"/>
            </a:endParaRPr>
          </a:p>
        </p:txBody>
      </p:sp>
      <p:sp>
        <p:nvSpPr>
          <p:cNvPr id="21" name="Text Box 4"/>
          <p:cNvSpPr txBox="1">
            <a:spLocks noChangeArrowheads="1"/>
          </p:cNvSpPr>
          <p:nvPr/>
        </p:nvSpPr>
        <p:spPr bwMode="auto">
          <a:xfrm>
            <a:off x="5024701" y="227405"/>
            <a:ext cx="2590165" cy="500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sz="266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STATA</a:t>
            </a:r>
            <a:r>
              <a:rPr lang="zh-CN" altLang="en-US" sz="266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软件介绍</a:t>
            </a:r>
            <a:endParaRPr lang="zh-CN" altLang="zh-CN" sz="2665"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2" name="Line 6"/>
          <p:cNvSpPr>
            <a:spLocks noChangeShapeType="1"/>
          </p:cNvSpPr>
          <p:nvPr/>
        </p:nvSpPr>
        <p:spPr bwMode="auto">
          <a:xfrm>
            <a:off x="-1" y="483656"/>
            <a:ext cx="5104661" cy="3"/>
          </a:xfrm>
          <a:prstGeom prst="line">
            <a:avLst/>
          </a:prstGeom>
          <a:noFill/>
          <a:ln w="6350">
            <a:solidFill>
              <a:srgbClr val="6E0F6D"/>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3" name="Line 7"/>
          <p:cNvSpPr>
            <a:spLocks noChangeShapeType="1"/>
          </p:cNvSpPr>
          <p:nvPr/>
        </p:nvSpPr>
        <p:spPr bwMode="auto">
          <a:xfrm>
            <a:off x="7596505" y="482600"/>
            <a:ext cx="4595495" cy="1270"/>
          </a:xfrm>
          <a:prstGeom prst="line">
            <a:avLst/>
          </a:prstGeom>
          <a:noFill/>
          <a:ln w="6350">
            <a:solidFill>
              <a:srgbClr val="6E0F6D"/>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8" name="文本框 7"/>
          <p:cNvSpPr txBox="1"/>
          <p:nvPr/>
        </p:nvSpPr>
        <p:spPr>
          <a:xfrm>
            <a:off x="1547048" y="1413588"/>
            <a:ext cx="9277509" cy="4582160"/>
          </a:xfrm>
          <a:prstGeom prst="rect">
            <a:avLst/>
          </a:prstGeom>
          <a:noFill/>
        </p:spPr>
        <p:txBody>
          <a:bodyPr wrap="square" rtlCol="0">
            <a:spAutoFit/>
          </a:bodyPr>
          <a:lstStyle/>
          <a:p>
            <a:pPr marL="342900" indent="0" algn="just" fontAlgn="auto">
              <a:lnSpc>
                <a:spcPct val="175000"/>
              </a:lnSpc>
              <a:spcBef>
                <a:spcPts val="500"/>
              </a:spcBef>
              <a:buFont typeface="Wingdings" panose="05000000000000000000" charset="0"/>
              <a:buChar char="u"/>
            </a:pPr>
            <a:r>
              <a:rPr lang="zh-CN" altLang="zh-CN" u="sng" dirty="0" smtClean="0">
                <a:effectLst/>
                <a:latin typeface="Arial" panose="020B0604020202020204" pitchFamily="34" charset="0"/>
                <a:ea typeface="楷体" panose="02010609060101010101" pitchFamily="49" charset="-122"/>
                <a:cs typeface="Arial" panose="020B0604020202020204" pitchFamily="34" charset="0"/>
                <a:sym typeface="+mn-ea"/>
              </a:rPr>
              <a:t>In January 1985</a:t>
            </a:r>
            <a:r>
              <a:rPr lang="zh-CN" altLang="zh-CN" dirty="0" smtClean="0">
                <a:effectLst/>
                <a:latin typeface="Arial" panose="020B0604020202020204" pitchFamily="34" charset="0"/>
                <a:ea typeface="楷体" panose="02010609060101010101" pitchFamily="49" charset="-122"/>
                <a:cs typeface="Arial" panose="020B0604020202020204" pitchFamily="34" charset="0"/>
                <a:sym typeface="+mn-ea"/>
              </a:rPr>
              <a:t>, Stata 1.0 was released. </a:t>
            </a:r>
            <a:r>
              <a:rPr lang="zh-CN" altLang="zh-CN" u="sng" dirty="0" smtClean="0">
                <a:effectLst/>
                <a:latin typeface="Arial" panose="020B0604020202020204" pitchFamily="34" charset="0"/>
                <a:ea typeface="楷体" panose="02010609060101010101" pitchFamily="49" charset="-122"/>
                <a:cs typeface="Arial" panose="020B0604020202020204" pitchFamily="34" charset="0"/>
                <a:sym typeface="+mn-ea"/>
              </a:rPr>
              <a:t>In June 2019, Stata 16</a:t>
            </a:r>
            <a:r>
              <a:rPr lang="zh-CN" altLang="zh-CN" dirty="0" smtClean="0">
                <a:effectLst/>
                <a:latin typeface="Arial" panose="020B0604020202020204" pitchFamily="34" charset="0"/>
                <a:ea typeface="楷体" panose="02010609060101010101" pitchFamily="49" charset="-122"/>
                <a:cs typeface="Arial" panose="020B0604020202020204" pitchFamily="34" charset="0"/>
                <a:sym typeface="+mn-ea"/>
              </a:rPr>
              <a:t> was released. For over thirty years, StataCorp has been a leader in statistical software, dedicated to providing the tools professional researchers need to analyze their data.</a:t>
            </a:r>
            <a:endParaRPr lang="zh-CN" altLang="zh-CN" dirty="0" smtClean="0">
              <a:effectLst/>
              <a:latin typeface="Arial" panose="020B0604020202020204" pitchFamily="34" charset="0"/>
              <a:ea typeface="楷体" panose="02010609060101010101" pitchFamily="49" charset="-122"/>
              <a:cs typeface="Arial" panose="020B0604020202020204" pitchFamily="34" charset="0"/>
              <a:sym typeface="+mn-ea"/>
            </a:endParaRPr>
          </a:p>
          <a:p>
            <a:pPr marL="342900" indent="0" algn="just" fontAlgn="auto">
              <a:lnSpc>
                <a:spcPct val="175000"/>
              </a:lnSpc>
              <a:spcBef>
                <a:spcPts val="500"/>
              </a:spcBef>
              <a:buFont typeface="Wingdings" panose="05000000000000000000" charset="0"/>
              <a:buChar char="u"/>
            </a:pPr>
            <a:endParaRPr lang="zh-CN" altLang="zh-CN" dirty="0" smtClean="0">
              <a:effectLst/>
              <a:latin typeface="Arial" panose="020B0604020202020204" pitchFamily="34" charset="0"/>
              <a:ea typeface="楷体" panose="02010609060101010101" pitchFamily="49" charset="-122"/>
              <a:cs typeface="Arial" panose="020B0604020202020204" pitchFamily="34" charset="0"/>
              <a:sym typeface="+mn-ea"/>
            </a:endParaRPr>
          </a:p>
          <a:p>
            <a:pPr marL="342900" indent="0" algn="just" fontAlgn="auto">
              <a:lnSpc>
                <a:spcPct val="175000"/>
              </a:lnSpc>
              <a:spcBef>
                <a:spcPts val="500"/>
              </a:spcBef>
              <a:buFont typeface="Wingdings" panose="05000000000000000000" charset="0"/>
              <a:buChar char="u"/>
            </a:pPr>
            <a:r>
              <a:rPr lang="zh-CN" altLang="en-US" dirty="0">
                <a:latin typeface="Arial" panose="020B0604020202020204" pitchFamily="34" charset="0"/>
                <a:ea typeface="楷体" panose="02010609060101010101" pitchFamily="49" charset="-122"/>
                <a:cs typeface="Arial" panose="020B0604020202020204" pitchFamily="34" charset="0"/>
                <a:sym typeface="+mn-ea"/>
              </a:rPr>
              <a:t>The Stata Journal </a:t>
            </a:r>
            <a:r>
              <a:rPr lang="en-US" altLang="zh-CN" dirty="0">
                <a:latin typeface="Arial" panose="020B0604020202020204" pitchFamily="34" charset="0"/>
                <a:ea typeface="楷体" panose="02010609060101010101" pitchFamily="49" charset="-122"/>
                <a:cs typeface="Arial" panose="020B0604020202020204" pitchFamily="34" charset="0"/>
                <a:sym typeface="+mn-ea"/>
              </a:rPr>
              <a:t>(</a:t>
            </a:r>
            <a:r>
              <a:rPr lang="en-US" altLang="zh-CN" u="sng" dirty="0">
                <a:latin typeface="Arial" panose="020B0604020202020204" pitchFamily="34" charset="0"/>
                <a:ea typeface="楷体" panose="02010609060101010101" pitchFamily="49" charset="-122"/>
                <a:cs typeface="Arial" panose="020B0604020202020204" pitchFamily="34" charset="0"/>
                <a:sym typeface="+mn-ea"/>
              </a:rPr>
              <a:t>STATISTICS &amp; PROBABILITY, Q2/Q1</a:t>
            </a:r>
            <a:r>
              <a:rPr lang="en-US" altLang="zh-CN" dirty="0">
                <a:latin typeface="Arial" panose="020B0604020202020204" pitchFamily="34" charset="0"/>
                <a:ea typeface="楷体" panose="02010609060101010101" pitchFamily="49" charset="-122"/>
                <a:cs typeface="Arial" panose="020B0604020202020204" pitchFamily="34" charset="0"/>
                <a:sym typeface="+mn-ea"/>
              </a:rPr>
              <a:t>)</a:t>
            </a:r>
            <a:r>
              <a:rPr lang="zh-CN" altLang="en-US" dirty="0">
                <a:latin typeface="Arial" panose="020B0604020202020204" pitchFamily="34" charset="0"/>
                <a:ea typeface="楷体" panose="02010609060101010101" pitchFamily="49" charset="-122"/>
                <a:cs typeface="Arial" panose="020B0604020202020204" pitchFamily="34" charset="0"/>
                <a:sym typeface="+mn-ea"/>
              </a:rPr>
              <a:t> is a quarterly publication containing articles about statistics, data analysis, teaching methods, and effective use of Stata's language. The Stata Journal publishes reviewed papers together with shorter notes and comments, regular columns, book reviews, and other material of interest to researchers applying statistics in a variety of disciplines.</a:t>
            </a:r>
            <a:endParaRPr lang="zh-CN" altLang="en-US" dirty="0">
              <a:latin typeface="Arial" panose="020B0604020202020204" pitchFamily="34" charset="0"/>
              <a:ea typeface="楷体" panose="02010609060101010101" pitchFamily="49" charset="-122"/>
              <a:cs typeface="Arial" panose="020B0604020202020204" pitchFamily="34" charset="0"/>
              <a:sym typeface="+mn-ea"/>
            </a:endParaRPr>
          </a:p>
        </p:txBody>
      </p:sp>
      <p:sp>
        <p:nvSpPr>
          <p:cNvPr id="6" name="矩形 5"/>
          <p:cNvSpPr/>
          <p:nvPr/>
        </p:nvSpPr>
        <p:spPr>
          <a:xfrm>
            <a:off x="0" y="-2140"/>
            <a:ext cx="569388" cy="923330"/>
          </a:xfrm>
          <a:prstGeom prst="rect">
            <a:avLst/>
          </a:prstGeom>
          <a:noFill/>
        </p:spPr>
        <p:txBody>
          <a:bodyPr wrap="none" lIns="91440" tIns="45720" rIns="91440" bIns="45720">
            <a:spAutoFit/>
          </a:bodyPr>
          <a:lstStyle/>
          <a:p>
            <a:pPr algn="ctr"/>
            <a:r>
              <a:rPr lang="en-US" altLang="zh-CN" sz="5400" b="1" cap="none" spc="0" dirty="0" smtClean="0">
                <a:ln w="9525">
                  <a:solidFill>
                    <a:schemeClr val="bg1"/>
                  </a:solidFill>
                  <a:prstDash val="solid"/>
                </a:ln>
                <a:solidFill>
                  <a:srgbClr val="6E0F6D"/>
                </a:solidFill>
                <a:effectLst>
                  <a:outerShdw blurRad="12700" dist="38100" dir="2700000" algn="tl" rotWithShape="0">
                    <a:schemeClr val="accent5">
                      <a:lumMod val="60000"/>
                      <a:lumOff val="40000"/>
                    </a:schemeClr>
                  </a:outerShdw>
                </a:effectLst>
              </a:rPr>
              <a:t>1</a:t>
            </a:r>
            <a:endParaRPr lang="en-US" altLang="zh-CN" sz="5400" b="1" cap="none" spc="0" dirty="0" smtClean="0">
              <a:ln w="9525">
                <a:solidFill>
                  <a:schemeClr val="bg1"/>
                </a:solidFill>
                <a:prstDash val="solid"/>
              </a:ln>
              <a:solidFill>
                <a:srgbClr val="6E0F6D"/>
              </a:solidFill>
              <a:effectLst>
                <a:outerShdw blurRad="12700" dist="38100" dir="2700000" algn="tl" rotWithShape="0">
                  <a:schemeClr val="accent5">
                    <a:lumMod val="60000"/>
                    <a:lumOff val="40000"/>
                  </a:schemeClr>
                </a:outerShdw>
              </a:effectLst>
            </a:endParaRPr>
          </a:p>
        </p:txBody>
      </p:sp>
      <p:sp>
        <p:nvSpPr>
          <p:cNvPr id="15" name="五边形 14"/>
          <p:cNvSpPr/>
          <p:nvPr/>
        </p:nvSpPr>
        <p:spPr>
          <a:xfrm rot="16200000" flipH="1">
            <a:off x="5960698" y="-5976390"/>
            <a:ext cx="270608" cy="12192004"/>
          </a:xfrm>
          <a:prstGeom prst="homePlate">
            <a:avLst>
              <a:gd name="adj" fmla="val 26602"/>
            </a:avLst>
          </a:prstGeom>
          <a:solidFill>
            <a:srgbClr val="6E0F6D"/>
          </a:solidFill>
          <a:ln>
            <a:noFill/>
          </a:ln>
          <a:effectLst>
            <a:reflection blurRad="6350" stA="50000" endA="300" endPos="55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lumMod val="95000"/>
                </a:schemeClr>
              </a:solidFill>
            </a:endParaRPr>
          </a:p>
        </p:txBody>
      </p:sp>
      <p:sp>
        <p:nvSpPr>
          <p:cNvPr id="13" name="五边形 12"/>
          <p:cNvSpPr/>
          <p:nvPr/>
        </p:nvSpPr>
        <p:spPr>
          <a:xfrm rot="5400000" flipH="1">
            <a:off x="5933983" y="599980"/>
            <a:ext cx="324035" cy="12192004"/>
          </a:xfrm>
          <a:prstGeom prst="homePlate">
            <a:avLst>
              <a:gd name="adj" fmla="val 26602"/>
            </a:avLst>
          </a:prstGeom>
          <a:solidFill>
            <a:srgbClr val="6E0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l="50000" t="50000" r="50000" b="50000"/>
                </a:path>
                <a:tileRect/>
              </a:gradFill>
            </a:endParaRPr>
          </a:p>
        </p:txBody>
      </p:sp>
    </p:spTree>
  </p:cSld>
  <p:clrMapOvr>
    <a:masterClrMapping/>
  </p:clrMapOvr>
  <p:transition spd="slow">
    <p:push dir="u"/>
  </p:transition>
  <p:timing>
    <p:tnLst>
      <p:par>
        <p:cTn id="1" dur="indefinite" restart="never" nodeType="tmRoot"/>
      </p:par>
    </p:tnLst>
    <p:bldLst>
      <p:bldP spid="34" grpId="0"/>
      <p:bldP spid="38" grpId="0"/>
      <p:bldP spid="21" grpId="0" bldLvl="0" animBg="1"/>
      <p:bldP spid="22" grpId="0" bldLvl="0" animBg="1"/>
      <p:bldP spid="23"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6459018" y="2035011"/>
            <a:ext cx="825867" cy="748988"/>
          </a:xfrm>
          <a:prstGeom prst="rect">
            <a:avLst/>
          </a:prstGeom>
          <a:noFill/>
        </p:spPr>
        <p:txBody>
          <a:bodyPr wrap="none" rtlCol="0">
            <a:spAutoFit/>
          </a:bodyPr>
          <a:lstStyle/>
          <a:p>
            <a:r>
              <a:rPr lang="en-US" altLang="zh-CN" sz="4265" dirty="0">
                <a:solidFill>
                  <a:schemeClr val="bg1"/>
                </a:solidFill>
                <a:latin typeface="微软雅黑" panose="020B0503020204020204" pitchFamily="34" charset="-122"/>
                <a:ea typeface="微软雅黑" panose="020B0503020204020204" pitchFamily="34" charset="-122"/>
              </a:rPr>
              <a:t>02</a:t>
            </a:r>
            <a:endParaRPr lang="zh-CN" altLang="en-US" sz="4265" dirty="0">
              <a:solidFill>
                <a:schemeClr val="bg1"/>
              </a:solidFill>
              <a:latin typeface="微软雅黑" panose="020B0503020204020204" pitchFamily="34" charset="-122"/>
              <a:ea typeface="微软雅黑" panose="020B0503020204020204" pitchFamily="34" charset="-122"/>
            </a:endParaRPr>
          </a:p>
        </p:txBody>
      </p:sp>
      <p:sp>
        <p:nvSpPr>
          <p:cNvPr id="38" name="TextBox 37"/>
          <p:cNvSpPr txBox="1"/>
          <p:nvPr/>
        </p:nvSpPr>
        <p:spPr>
          <a:xfrm>
            <a:off x="6459017" y="4442316"/>
            <a:ext cx="825867" cy="748988"/>
          </a:xfrm>
          <a:prstGeom prst="rect">
            <a:avLst/>
          </a:prstGeom>
          <a:noFill/>
        </p:spPr>
        <p:txBody>
          <a:bodyPr wrap="none" rtlCol="0">
            <a:spAutoFit/>
          </a:bodyPr>
          <a:lstStyle/>
          <a:p>
            <a:r>
              <a:rPr lang="en-US" altLang="zh-CN" sz="4265" dirty="0">
                <a:solidFill>
                  <a:schemeClr val="bg1"/>
                </a:solidFill>
                <a:latin typeface="微软雅黑" panose="020B0503020204020204" pitchFamily="34" charset="-122"/>
                <a:ea typeface="微软雅黑" panose="020B0503020204020204" pitchFamily="34" charset="-122"/>
              </a:rPr>
              <a:t>04</a:t>
            </a:r>
            <a:endParaRPr lang="zh-CN" altLang="en-US" sz="4265" dirty="0">
              <a:solidFill>
                <a:schemeClr val="bg1"/>
              </a:solidFill>
              <a:latin typeface="微软雅黑" panose="020B0503020204020204" pitchFamily="34" charset="-122"/>
              <a:ea typeface="微软雅黑" panose="020B0503020204020204" pitchFamily="34" charset="-122"/>
            </a:endParaRPr>
          </a:p>
        </p:txBody>
      </p:sp>
      <p:sp>
        <p:nvSpPr>
          <p:cNvPr id="21" name="Text Box 4"/>
          <p:cNvSpPr txBox="1">
            <a:spLocks noChangeArrowheads="1"/>
          </p:cNvSpPr>
          <p:nvPr/>
        </p:nvSpPr>
        <p:spPr bwMode="auto">
          <a:xfrm>
            <a:off x="5024701" y="227405"/>
            <a:ext cx="2590165" cy="500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sz="266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STATA</a:t>
            </a:r>
            <a:r>
              <a:rPr lang="zh-CN" altLang="en-US" sz="266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软件介绍</a:t>
            </a:r>
            <a:endParaRPr lang="zh-CN" altLang="zh-CN" sz="2665"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2" name="Line 6"/>
          <p:cNvSpPr>
            <a:spLocks noChangeShapeType="1"/>
          </p:cNvSpPr>
          <p:nvPr/>
        </p:nvSpPr>
        <p:spPr bwMode="auto">
          <a:xfrm>
            <a:off x="-1" y="483656"/>
            <a:ext cx="5104661" cy="3"/>
          </a:xfrm>
          <a:prstGeom prst="line">
            <a:avLst/>
          </a:prstGeom>
          <a:noFill/>
          <a:ln w="6350">
            <a:solidFill>
              <a:srgbClr val="6E0F6D"/>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3" name="Line 7"/>
          <p:cNvSpPr>
            <a:spLocks noChangeShapeType="1"/>
          </p:cNvSpPr>
          <p:nvPr/>
        </p:nvSpPr>
        <p:spPr bwMode="auto">
          <a:xfrm>
            <a:off x="7596505" y="482600"/>
            <a:ext cx="4595495" cy="1270"/>
          </a:xfrm>
          <a:prstGeom prst="line">
            <a:avLst/>
          </a:prstGeom>
          <a:noFill/>
          <a:ln w="6350">
            <a:solidFill>
              <a:srgbClr val="6E0F6D"/>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6" name="矩形 5"/>
          <p:cNvSpPr/>
          <p:nvPr/>
        </p:nvSpPr>
        <p:spPr>
          <a:xfrm>
            <a:off x="0" y="-2140"/>
            <a:ext cx="569388" cy="923330"/>
          </a:xfrm>
          <a:prstGeom prst="rect">
            <a:avLst/>
          </a:prstGeom>
          <a:noFill/>
        </p:spPr>
        <p:txBody>
          <a:bodyPr wrap="none" lIns="91440" tIns="45720" rIns="91440" bIns="45720">
            <a:spAutoFit/>
          </a:bodyPr>
          <a:lstStyle/>
          <a:p>
            <a:pPr algn="ctr"/>
            <a:r>
              <a:rPr lang="en-US" altLang="zh-CN" sz="5400" b="1" cap="none" spc="0" dirty="0" smtClean="0">
                <a:ln w="9525">
                  <a:solidFill>
                    <a:schemeClr val="bg1"/>
                  </a:solidFill>
                  <a:prstDash val="solid"/>
                </a:ln>
                <a:solidFill>
                  <a:srgbClr val="6E0F6D"/>
                </a:solidFill>
                <a:effectLst>
                  <a:outerShdw blurRad="12700" dist="38100" dir="2700000" algn="tl" rotWithShape="0">
                    <a:schemeClr val="accent5">
                      <a:lumMod val="60000"/>
                      <a:lumOff val="40000"/>
                    </a:schemeClr>
                  </a:outerShdw>
                </a:effectLst>
              </a:rPr>
              <a:t>1</a:t>
            </a:r>
            <a:endParaRPr lang="en-US" altLang="zh-CN" sz="5400" b="1" cap="none" spc="0" dirty="0" smtClean="0">
              <a:ln w="9525">
                <a:solidFill>
                  <a:schemeClr val="bg1"/>
                </a:solidFill>
                <a:prstDash val="solid"/>
              </a:ln>
              <a:solidFill>
                <a:srgbClr val="6E0F6D"/>
              </a:solidFill>
              <a:effectLst>
                <a:outerShdw blurRad="12700" dist="38100" dir="2700000" algn="tl" rotWithShape="0">
                  <a:schemeClr val="accent5">
                    <a:lumMod val="60000"/>
                    <a:lumOff val="40000"/>
                  </a:schemeClr>
                </a:outerShdw>
              </a:effectLst>
            </a:endParaRPr>
          </a:p>
        </p:txBody>
      </p:sp>
      <p:sp>
        <p:nvSpPr>
          <p:cNvPr id="15" name="五边形 14"/>
          <p:cNvSpPr/>
          <p:nvPr/>
        </p:nvSpPr>
        <p:spPr>
          <a:xfrm rot="16200000" flipH="1">
            <a:off x="5960698" y="-5976390"/>
            <a:ext cx="270608" cy="12192004"/>
          </a:xfrm>
          <a:prstGeom prst="homePlate">
            <a:avLst>
              <a:gd name="adj" fmla="val 26602"/>
            </a:avLst>
          </a:prstGeom>
          <a:solidFill>
            <a:srgbClr val="6E0F6D"/>
          </a:solidFill>
          <a:ln>
            <a:noFill/>
          </a:ln>
          <a:effectLst>
            <a:reflection blurRad="6350" stA="50000" endA="300" endPos="55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lumMod val="95000"/>
                </a:schemeClr>
              </a:solidFill>
            </a:endParaRPr>
          </a:p>
        </p:txBody>
      </p:sp>
      <p:sp>
        <p:nvSpPr>
          <p:cNvPr id="13" name="五边形 12"/>
          <p:cNvSpPr/>
          <p:nvPr/>
        </p:nvSpPr>
        <p:spPr>
          <a:xfrm rot="5400000" flipH="1">
            <a:off x="5933983" y="599980"/>
            <a:ext cx="324035" cy="12192004"/>
          </a:xfrm>
          <a:prstGeom prst="homePlate">
            <a:avLst>
              <a:gd name="adj" fmla="val 26602"/>
            </a:avLst>
          </a:prstGeom>
          <a:solidFill>
            <a:srgbClr val="6E0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l="50000" t="50000" r="50000" b="50000"/>
                </a:path>
                <a:tileRect/>
              </a:gradFill>
            </a:endParaRPr>
          </a:p>
        </p:txBody>
      </p:sp>
      <p:pic>
        <p:nvPicPr>
          <p:cNvPr id="3" name="图片 2"/>
          <p:cNvPicPr>
            <a:picLocks noChangeAspect="1"/>
          </p:cNvPicPr>
          <p:nvPr/>
        </p:nvPicPr>
        <p:blipFill>
          <a:blip r:embed="rId1"/>
          <a:stretch>
            <a:fillRect/>
          </a:stretch>
        </p:blipFill>
        <p:spPr>
          <a:xfrm>
            <a:off x="651510" y="1087755"/>
            <a:ext cx="11089005" cy="5041265"/>
          </a:xfrm>
          <a:prstGeom prst="rect">
            <a:avLst/>
          </a:prstGeom>
        </p:spPr>
      </p:pic>
    </p:spTree>
  </p:cSld>
  <p:clrMapOvr>
    <a:masterClrMapping/>
  </p:clrMapOvr>
  <p:transition spd="slow">
    <p:push dir="u"/>
  </p:transition>
  <p:timing>
    <p:tnLst>
      <p:par>
        <p:cTn id="1" dur="indefinite" restart="never" nodeType="tmRoot"/>
      </p:par>
    </p:tnLst>
    <p:bldLst>
      <p:bldP spid="34" grpId="0"/>
      <p:bldP spid="38" grpId="0"/>
      <p:bldP spid="21" grpId="0" bldLvl="0" animBg="1"/>
      <p:bldP spid="22" grpId="0" bldLvl="0" animBg="1"/>
      <p:bldP spid="23"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6459018" y="2035011"/>
            <a:ext cx="825867" cy="748988"/>
          </a:xfrm>
          <a:prstGeom prst="rect">
            <a:avLst/>
          </a:prstGeom>
          <a:noFill/>
        </p:spPr>
        <p:txBody>
          <a:bodyPr wrap="none" rtlCol="0">
            <a:spAutoFit/>
          </a:bodyPr>
          <a:lstStyle/>
          <a:p>
            <a:r>
              <a:rPr lang="en-US" altLang="zh-CN" sz="4265" dirty="0">
                <a:solidFill>
                  <a:schemeClr val="bg1"/>
                </a:solidFill>
                <a:latin typeface="微软雅黑" panose="020B0503020204020204" pitchFamily="34" charset="-122"/>
                <a:ea typeface="微软雅黑" panose="020B0503020204020204" pitchFamily="34" charset="-122"/>
              </a:rPr>
              <a:t>02</a:t>
            </a:r>
            <a:endParaRPr lang="zh-CN" altLang="en-US" sz="4265" dirty="0">
              <a:solidFill>
                <a:schemeClr val="bg1"/>
              </a:solidFill>
              <a:latin typeface="微软雅黑" panose="020B0503020204020204" pitchFamily="34" charset="-122"/>
              <a:ea typeface="微软雅黑" panose="020B0503020204020204" pitchFamily="34" charset="-122"/>
            </a:endParaRPr>
          </a:p>
        </p:txBody>
      </p:sp>
      <p:sp>
        <p:nvSpPr>
          <p:cNvPr id="38" name="TextBox 37"/>
          <p:cNvSpPr txBox="1"/>
          <p:nvPr/>
        </p:nvSpPr>
        <p:spPr>
          <a:xfrm>
            <a:off x="6459017" y="4442316"/>
            <a:ext cx="825867" cy="748988"/>
          </a:xfrm>
          <a:prstGeom prst="rect">
            <a:avLst/>
          </a:prstGeom>
          <a:noFill/>
        </p:spPr>
        <p:txBody>
          <a:bodyPr wrap="none" rtlCol="0">
            <a:spAutoFit/>
          </a:bodyPr>
          <a:lstStyle/>
          <a:p>
            <a:r>
              <a:rPr lang="en-US" altLang="zh-CN" sz="4265" dirty="0">
                <a:solidFill>
                  <a:schemeClr val="bg1"/>
                </a:solidFill>
                <a:latin typeface="微软雅黑" panose="020B0503020204020204" pitchFamily="34" charset="-122"/>
                <a:ea typeface="微软雅黑" panose="020B0503020204020204" pitchFamily="34" charset="-122"/>
              </a:rPr>
              <a:t>04</a:t>
            </a:r>
            <a:endParaRPr lang="zh-CN" altLang="en-US" sz="4265" dirty="0">
              <a:solidFill>
                <a:schemeClr val="bg1"/>
              </a:solidFill>
              <a:latin typeface="微软雅黑" panose="020B0503020204020204" pitchFamily="34" charset="-122"/>
              <a:ea typeface="微软雅黑" panose="020B0503020204020204" pitchFamily="34" charset="-122"/>
            </a:endParaRPr>
          </a:p>
        </p:txBody>
      </p:sp>
      <p:sp>
        <p:nvSpPr>
          <p:cNvPr id="21" name="Text Box 4"/>
          <p:cNvSpPr txBox="1">
            <a:spLocks noChangeArrowheads="1"/>
          </p:cNvSpPr>
          <p:nvPr/>
        </p:nvSpPr>
        <p:spPr bwMode="auto">
          <a:xfrm>
            <a:off x="5024701" y="227405"/>
            <a:ext cx="2590165" cy="500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sz="266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STATA</a:t>
            </a:r>
            <a:r>
              <a:rPr lang="zh-CN" altLang="en-US" sz="266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软件介绍</a:t>
            </a:r>
            <a:endParaRPr lang="zh-CN" altLang="zh-CN" sz="2665"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2" name="Line 6"/>
          <p:cNvSpPr>
            <a:spLocks noChangeShapeType="1"/>
          </p:cNvSpPr>
          <p:nvPr/>
        </p:nvSpPr>
        <p:spPr bwMode="auto">
          <a:xfrm>
            <a:off x="-1" y="483656"/>
            <a:ext cx="5104661" cy="3"/>
          </a:xfrm>
          <a:prstGeom prst="line">
            <a:avLst/>
          </a:prstGeom>
          <a:noFill/>
          <a:ln w="6350">
            <a:solidFill>
              <a:srgbClr val="6E0F6D"/>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3" name="Line 7"/>
          <p:cNvSpPr>
            <a:spLocks noChangeShapeType="1"/>
          </p:cNvSpPr>
          <p:nvPr/>
        </p:nvSpPr>
        <p:spPr bwMode="auto">
          <a:xfrm>
            <a:off x="7596505" y="482600"/>
            <a:ext cx="4595495" cy="1270"/>
          </a:xfrm>
          <a:prstGeom prst="line">
            <a:avLst/>
          </a:prstGeom>
          <a:noFill/>
          <a:ln w="6350">
            <a:solidFill>
              <a:srgbClr val="6E0F6D"/>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6" name="矩形 5"/>
          <p:cNvSpPr/>
          <p:nvPr/>
        </p:nvSpPr>
        <p:spPr>
          <a:xfrm>
            <a:off x="0" y="-2140"/>
            <a:ext cx="569388" cy="923330"/>
          </a:xfrm>
          <a:prstGeom prst="rect">
            <a:avLst/>
          </a:prstGeom>
          <a:noFill/>
        </p:spPr>
        <p:txBody>
          <a:bodyPr wrap="none" lIns="91440" tIns="45720" rIns="91440" bIns="45720">
            <a:spAutoFit/>
          </a:bodyPr>
          <a:lstStyle/>
          <a:p>
            <a:pPr algn="ctr"/>
            <a:r>
              <a:rPr lang="en-US" altLang="zh-CN" sz="5400" b="1" cap="none" spc="0" dirty="0" smtClean="0">
                <a:ln w="9525">
                  <a:solidFill>
                    <a:schemeClr val="bg1"/>
                  </a:solidFill>
                  <a:prstDash val="solid"/>
                </a:ln>
                <a:solidFill>
                  <a:srgbClr val="6E0F6D"/>
                </a:solidFill>
                <a:effectLst>
                  <a:outerShdw blurRad="12700" dist="38100" dir="2700000" algn="tl" rotWithShape="0">
                    <a:schemeClr val="accent5">
                      <a:lumMod val="60000"/>
                      <a:lumOff val="40000"/>
                    </a:schemeClr>
                  </a:outerShdw>
                </a:effectLst>
              </a:rPr>
              <a:t>1</a:t>
            </a:r>
            <a:endParaRPr lang="en-US" altLang="zh-CN" sz="5400" b="1" cap="none" spc="0" dirty="0" smtClean="0">
              <a:ln w="9525">
                <a:solidFill>
                  <a:schemeClr val="bg1"/>
                </a:solidFill>
                <a:prstDash val="solid"/>
              </a:ln>
              <a:solidFill>
                <a:srgbClr val="6E0F6D"/>
              </a:solidFill>
              <a:effectLst>
                <a:outerShdw blurRad="12700" dist="38100" dir="2700000" algn="tl" rotWithShape="0">
                  <a:schemeClr val="accent5">
                    <a:lumMod val="60000"/>
                    <a:lumOff val="40000"/>
                  </a:schemeClr>
                </a:outerShdw>
              </a:effectLst>
            </a:endParaRPr>
          </a:p>
        </p:txBody>
      </p:sp>
      <p:sp>
        <p:nvSpPr>
          <p:cNvPr id="15" name="五边形 14"/>
          <p:cNvSpPr/>
          <p:nvPr/>
        </p:nvSpPr>
        <p:spPr>
          <a:xfrm rot="16200000" flipH="1">
            <a:off x="5960698" y="-5976390"/>
            <a:ext cx="270608" cy="12192004"/>
          </a:xfrm>
          <a:prstGeom prst="homePlate">
            <a:avLst>
              <a:gd name="adj" fmla="val 26602"/>
            </a:avLst>
          </a:prstGeom>
          <a:solidFill>
            <a:srgbClr val="6E0F6D"/>
          </a:solidFill>
          <a:ln>
            <a:noFill/>
          </a:ln>
          <a:effectLst>
            <a:reflection blurRad="6350" stA="50000" endA="300" endPos="55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lumMod val="95000"/>
                </a:schemeClr>
              </a:solidFill>
            </a:endParaRPr>
          </a:p>
        </p:txBody>
      </p:sp>
      <p:sp>
        <p:nvSpPr>
          <p:cNvPr id="13" name="五边形 12"/>
          <p:cNvSpPr/>
          <p:nvPr/>
        </p:nvSpPr>
        <p:spPr>
          <a:xfrm rot="5400000" flipH="1">
            <a:off x="5933983" y="599980"/>
            <a:ext cx="324035" cy="12192004"/>
          </a:xfrm>
          <a:prstGeom prst="homePlate">
            <a:avLst>
              <a:gd name="adj" fmla="val 26602"/>
            </a:avLst>
          </a:prstGeom>
          <a:solidFill>
            <a:srgbClr val="6E0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l="50000" t="50000" r="50000" b="50000"/>
                </a:path>
                <a:tileRect/>
              </a:gradFill>
            </a:endParaRPr>
          </a:p>
        </p:txBody>
      </p:sp>
      <p:sp>
        <p:nvSpPr>
          <p:cNvPr id="8" name="文本框 7"/>
          <p:cNvSpPr txBox="1"/>
          <p:nvPr/>
        </p:nvSpPr>
        <p:spPr>
          <a:xfrm>
            <a:off x="1547048" y="1413588"/>
            <a:ext cx="9277509" cy="629920"/>
          </a:xfrm>
          <a:prstGeom prst="rect">
            <a:avLst/>
          </a:prstGeom>
          <a:noFill/>
        </p:spPr>
        <p:txBody>
          <a:bodyPr wrap="square" rtlCol="0">
            <a:spAutoFit/>
          </a:bodyPr>
          <a:p>
            <a:pPr marL="342900" indent="0" algn="just" fontAlgn="auto">
              <a:lnSpc>
                <a:spcPct val="175000"/>
              </a:lnSpc>
              <a:spcBef>
                <a:spcPts val="500"/>
              </a:spcBef>
              <a:buFont typeface="Wingdings" panose="05000000000000000000" charset="0"/>
              <a:buChar char="u"/>
            </a:pPr>
            <a:r>
              <a:rPr lang="zh-CN" altLang="en-US" sz="2000" dirty="0">
                <a:latin typeface="Arial" panose="020B0604020202020204" pitchFamily="34" charset="0"/>
                <a:ea typeface="楷体" panose="02010609060101010101" pitchFamily="49" charset="-122"/>
                <a:cs typeface="Arial" panose="020B0604020202020204" pitchFamily="34" charset="0"/>
                <a:sym typeface="+mn-ea"/>
              </a:rPr>
              <a:t>软件界面介绍：见实例</a:t>
            </a:r>
            <a:endParaRPr lang="zh-CN" altLang="en-US" sz="2000" dirty="0">
              <a:latin typeface="Arial" panose="020B0604020202020204" pitchFamily="34" charset="0"/>
              <a:ea typeface="楷体" panose="02010609060101010101" pitchFamily="49" charset="-122"/>
              <a:cs typeface="Arial" panose="020B0604020202020204" pitchFamily="34" charset="0"/>
              <a:sym typeface="+mn-ea"/>
            </a:endParaRPr>
          </a:p>
        </p:txBody>
      </p:sp>
    </p:spTree>
  </p:cSld>
  <p:clrMapOvr>
    <a:masterClrMapping/>
  </p:clrMapOvr>
  <p:transition spd="slow">
    <p:push dir="u"/>
  </p:transition>
  <p:timing>
    <p:tnLst>
      <p:par>
        <p:cTn id="1" dur="indefinite" restart="never" nodeType="tmRoot"/>
      </p:par>
    </p:tnLst>
    <p:bldLst>
      <p:bldP spid="34" grpId="0"/>
      <p:bldP spid="38" grpId="0"/>
      <p:bldP spid="21" grpId="0" bldLvl="0" animBg="1"/>
      <p:bldP spid="22" grpId="0" bldLvl="0" animBg="1"/>
      <p:bldP spid="23"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4"/>
          <p:cNvSpPr txBox="1">
            <a:spLocks noChangeArrowheads="1"/>
          </p:cNvSpPr>
          <p:nvPr/>
        </p:nvSpPr>
        <p:spPr bwMode="auto">
          <a:xfrm>
            <a:off x="5115791" y="254913"/>
            <a:ext cx="2547620" cy="500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2660" b="1" dirty="0">
                <a:solidFill>
                  <a:schemeClr val="tx1">
                    <a:lumMod val="95000"/>
                    <a:lumOff val="5000"/>
                  </a:schemeClr>
                </a:solidFill>
                <a:latin typeface="微软雅黑" panose="020B0503020204020204" pitchFamily="34" charset="-122"/>
                <a:ea typeface="微软雅黑" panose="020B0503020204020204" pitchFamily="34" charset="-122"/>
                <a:sym typeface="+mn-ea"/>
              </a:rPr>
              <a:t>常见的数据结构</a:t>
            </a:r>
            <a:endParaRPr lang="zh-CN" altLang="zh-CN" sz="2665"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2" name="Line 6"/>
          <p:cNvSpPr>
            <a:spLocks noChangeShapeType="1"/>
          </p:cNvSpPr>
          <p:nvPr/>
        </p:nvSpPr>
        <p:spPr bwMode="auto">
          <a:xfrm flipV="1">
            <a:off x="0" y="482600"/>
            <a:ext cx="5115560" cy="635"/>
          </a:xfrm>
          <a:prstGeom prst="line">
            <a:avLst/>
          </a:prstGeom>
          <a:noFill/>
          <a:ln w="6350">
            <a:solidFill>
              <a:srgbClr val="6E0F6D"/>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3" name="Line 7"/>
          <p:cNvSpPr>
            <a:spLocks noChangeShapeType="1"/>
          </p:cNvSpPr>
          <p:nvPr/>
        </p:nvSpPr>
        <p:spPr bwMode="auto">
          <a:xfrm>
            <a:off x="7666990" y="482600"/>
            <a:ext cx="4525010" cy="635"/>
          </a:xfrm>
          <a:prstGeom prst="line">
            <a:avLst/>
          </a:prstGeom>
          <a:noFill/>
          <a:ln w="6350">
            <a:solidFill>
              <a:srgbClr val="6E0F6D"/>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6" name="矩形 5"/>
          <p:cNvSpPr/>
          <p:nvPr/>
        </p:nvSpPr>
        <p:spPr>
          <a:xfrm>
            <a:off x="0" y="-2140"/>
            <a:ext cx="569388" cy="923330"/>
          </a:xfrm>
          <a:prstGeom prst="rect">
            <a:avLst/>
          </a:prstGeom>
          <a:noFill/>
        </p:spPr>
        <p:txBody>
          <a:bodyPr wrap="none" lIns="91440" tIns="45720" rIns="91440" bIns="45720">
            <a:spAutoFit/>
          </a:bodyPr>
          <a:lstStyle/>
          <a:p>
            <a:pPr algn="ctr"/>
            <a:r>
              <a:rPr lang="en-US" altLang="zh-CN" sz="5400" b="1" cap="none" spc="0" dirty="0" smtClean="0">
                <a:ln w="9525">
                  <a:solidFill>
                    <a:schemeClr val="bg1"/>
                  </a:solidFill>
                  <a:prstDash val="solid"/>
                </a:ln>
                <a:solidFill>
                  <a:srgbClr val="6E0F6D"/>
                </a:solidFill>
                <a:effectLst>
                  <a:outerShdw blurRad="12700" dist="38100" dir="2700000" algn="tl" rotWithShape="0">
                    <a:schemeClr val="accent5">
                      <a:lumMod val="60000"/>
                      <a:lumOff val="40000"/>
                    </a:schemeClr>
                  </a:outerShdw>
                </a:effectLst>
              </a:rPr>
              <a:t>2</a:t>
            </a:r>
            <a:endParaRPr lang="en-US" altLang="zh-CN" sz="5400" b="1" cap="none" spc="0" dirty="0" smtClean="0">
              <a:ln w="9525">
                <a:solidFill>
                  <a:schemeClr val="bg1"/>
                </a:solidFill>
                <a:prstDash val="solid"/>
              </a:ln>
              <a:solidFill>
                <a:srgbClr val="6E0F6D"/>
              </a:solidFill>
              <a:effectLst>
                <a:outerShdw blurRad="12700" dist="38100" dir="2700000" algn="tl" rotWithShape="0">
                  <a:schemeClr val="accent5">
                    <a:lumMod val="60000"/>
                    <a:lumOff val="40000"/>
                  </a:schemeClr>
                </a:outerShdw>
              </a:effectLst>
            </a:endParaRPr>
          </a:p>
        </p:txBody>
      </p:sp>
      <p:sp>
        <p:nvSpPr>
          <p:cNvPr id="15" name="五边形 14"/>
          <p:cNvSpPr/>
          <p:nvPr/>
        </p:nvSpPr>
        <p:spPr>
          <a:xfrm rot="16200000" flipH="1">
            <a:off x="5960698" y="-5976390"/>
            <a:ext cx="270608" cy="12192004"/>
          </a:xfrm>
          <a:prstGeom prst="homePlate">
            <a:avLst>
              <a:gd name="adj" fmla="val 26602"/>
            </a:avLst>
          </a:prstGeom>
          <a:solidFill>
            <a:srgbClr val="6E0F6D"/>
          </a:solidFill>
          <a:ln>
            <a:noFill/>
          </a:ln>
          <a:effectLst>
            <a:reflection blurRad="6350" stA="50000" endA="300" endPos="55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lumMod val="95000"/>
                </a:schemeClr>
              </a:solidFill>
            </a:endParaRPr>
          </a:p>
        </p:txBody>
      </p:sp>
      <p:sp>
        <p:nvSpPr>
          <p:cNvPr id="13" name="五边形 12"/>
          <p:cNvSpPr/>
          <p:nvPr/>
        </p:nvSpPr>
        <p:spPr>
          <a:xfrm rot="5400000" flipH="1">
            <a:off x="5933983" y="599980"/>
            <a:ext cx="324035" cy="12192004"/>
          </a:xfrm>
          <a:prstGeom prst="homePlate">
            <a:avLst>
              <a:gd name="adj" fmla="val 26602"/>
            </a:avLst>
          </a:prstGeom>
          <a:solidFill>
            <a:srgbClr val="6E0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l="50000" t="50000" r="50000" b="50000"/>
                </a:path>
                <a:tileRect/>
              </a:gradFill>
            </a:endParaRPr>
          </a:p>
        </p:txBody>
      </p:sp>
      <p:sp>
        <p:nvSpPr>
          <p:cNvPr id="8" name="文本框 7"/>
          <p:cNvSpPr txBox="1"/>
          <p:nvPr/>
        </p:nvSpPr>
        <p:spPr>
          <a:xfrm>
            <a:off x="569595" y="1464945"/>
            <a:ext cx="6461125" cy="3836035"/>
          </a:xfrm>
          <a:prstGeom prst="rect">
            <a:avLst/>
          </a:prstGeom>
          <a:noFill/>
        </p:spPr>
        <p:txBody>
          <a:bodyPr wrap="square" rtlCol="0">
            <a:spAutoFit/>
          </a:bodyPr>
          <a:p>
            <a:pPr marL="342900" indent="0" algn="just" fontAlgn="auto">
              <a:lnSpc>
                <a:spcPct val="175000"/>
              </a:lnSpc>
              <a:spcBef>
                <a:spcPts val="500"/>
              </a:spcBef>
              <a:buFont typeface="Wingdings" panose="05000000000000000000" charset="0"/>
              <a:buChar char="u"/>
            </a:pPr>
            <a:r>
              <a:rPr lang="zh-CN" altLang="en-US" sz="2000" b="1" dirty="0">
                <a:latin typeface="Arial" panose="020B0604020202020204" pitchFamily="34" charset="0"/>
                <a:ea typeface="楷体" panose="02010609060101010101" pitchFamily="49" charset="-122"/>
                <a:cs typeface="Arial" panose="020B0604020202020204" pitchFamily="34" charset="0"/>
                <a:sym typeface="+mn-ea"/>
              </a:rPr>
              <a:t>横截面数据（Cross-sectional data）</a:t>
            </a:r>
            <a:endParaRPr lang="zh-CN" altLang="en-US" sz="2000" dirty="0">
              <a:latin typeface="Arial" panose="020B0604020202020204" pitchFamily="34" charset="0"/>
              <a:ea typeface="楷体" panose="02010609060101010101" pitchFamily="49" charset="-122"/>
              <a:cs typeface="Arial" panose="020B0604020202020204" pitchFamily="34" charset="0"/>
              <a:sym typeface="+mn-ea"/>
            </a:endParaRPr>
          </a:p>
          <a:p>
            <a:pPr marL="342900" indent="0" algn="just" fontAlgn="auto">
              <a:lnSpc>
                <a:spcPct val="125000"/>
              </a:lnSpc>
              <a:spcBef>
                <a:spcPts val="500"/>
              </a:spcBef>
              <a:buFont typeface="Wingdings" panose="05000000000000000000" charset="0"/>
              <a:buNone/>
            </a:pPr>
            <a:r>
              <a:rPr sz="2000" dirty="0">
                <a:latin typeface="Arial" panose="020B0604020202020204" pitchFamily="34" charset="0"/>
                <a:ea typeface="楷体" panose="02010609060101010101" pitchFamily="49" charset="-122"/>
                <a:cs typeface="Arial" panose="020B0604020202020204" pitchFamily="34" charset="0"/>
                <a:sym typeface="+mn-ea"/>
              </a:rPr>
              <a:t>横截面数据是指在某一时点收集的不同对象的数据。它对应同一时点上不同空间(对象)所组成的一维数据集合，研究的是某一时点上的某种经济现象，突出空间(对象)的差异。横截面数据的突出特点就是离散性高。横截面数据体现的是个体的个性，突出个体的差异，通常横截面数据表现的是无规律的而非真正的随机变化。</a:t>
            </a:r>
            <a:endParaRPr sz="2000" dirty="0">
              <a:latin typeface="Arial" panose="020B0604020202020204" pitchFamily="34" charset="0"/>
              <a:ea typeface="楷体" panose="02010609060101010101" pitchFamily="49" charset="-122"/>
              <a:cs typeface="Arial" panose="020B0604020202020204" pitchFamily="34" charset="0"/>
              <a:sym typeface="+mn-ea"/>
            </a:endParaRPr>
          </a:p>
          <a:p>
            <a:pPr marL="342900" indent="0" algn="just" fontAlgn="auto">
              <a:lnSpc>
                <a:spcPct val="125000"/>
              </a:lnSpc>
              <a:spcBef>
                <a:spcPts val="500"/>
              </a:spcBef>
              <a:buFont typeface="Wingdings" panose="05000000000000000000" charset="0"/>
              <a:buNone/>
            </a:pPr>
            <a:endParaRPr lang="zh-CN" altLang="en-US" sz="2000" dirty="0">
              <a:latin typeface="Arial" panose="020B0604020202020204" pitchFamily="34" charset="0"/>
              <a:ea typeface="楷体" panose="02010609060101010101" pitchFamily="49" charset="-122"/>
              <a:cs typeface="Arial" panose="020B0604020202020204" pitchFamily="34" charset="0"/>
              <a:sym typeface="+mn-ea"/>
            </a:endParaRPr>
          </a:p>
        </p:txBody>
      </p:sp>
      <p:pic>
        <p:nvPicPr>
          <p:cNvPr id="3" name="图片 2" descr="20180320150924137"/>
          <p:cNvPicPr>
            <a:picLocks noChangeAspect="1"/>
          </p:cNvPicPr>
          <p:nvPr/>
        </p:nvPicPr>
        <p:blipFill>
          <a:blip r:embed="rId1"/>
          <a:stretch>
            <a:fillRect/>
          </a:stretch>
        </p:blipFill>
        <p:spPr>
          <a:xfrm>
            <a:off x="7559040" y="1464945"/>
            <a:ext cx="4010025" cy="3209925"/>
          </a:xfrm>
          <a:prstGeom prst="rect">
            <a:avLst/>
          </a:prstGeom>
        </p:spPr>
      </p:pic>
    </p:spTree>
  </p:cSld>
  <p:clrMapOvr>
    <a:masterClrMapping/>
  </p:clrMapOvr>
  <p:transition spd="slow">
    <p:push dir="u"/>
  </p:transition>
  <p:timing>
    <p:tnLst>
      <p:par>
        <p:cTn id="1" dur="indefinite" restart="never" nodeType="tmRoot"/>
      </p:par>
    </p:tnLst>
    <p:bldLst>
      <p:bldP spid="21" grpId="0" bldLvl="0" animBg="1"/>
      <p:bldP spid="22" grpId="0" bldLvl="0" animBg="1"/>
      <p:bldP spid="23"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4"/>
          <p:cNvSpPr txBox="1">
            <a:spLocks noChangeArrowheads="1"/>
          </p:cNvSpPr>
          <p:nvPr/>
        </p:nvSpPr>
        <p:spPr bwMode="auto">
          <a:xfrm>
            <a:off x="5115791" y="254913"/>
            <a:ext cx="2547620" cy="500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2660" b="1" dirty="0">
                <a:solidFill>
                  <a:schemeClr val="tx1">
                    <a:lumMod val="95000"/>
                    <a:lumOff val="5000"/>
                  </a:schemeClr>
                </a:solidFill>
                <a:latin typeface="微软雅黑" panose="020B0503020204020204" pitchFamily="34" charset="-122"/>
                <a:ea typeface="微软雅黑" panose="020B0503020204020204" pitchFamily="34" charset="-122"/>
                <a:sym typeface="+mn-ea"/>
              </a:rPr>
              <a:t>常见的数据结构</a:t>
            </a:r>
            <a:endParaRPr lang="zh-CN" altLang="zh-CN" sz="2665"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2" name="Line 6"/>
          <p:cNvSpPr>
            <a:spLocks noChangeShapeType="1"/>
          </p:cNvSpPr>
          <p:nvPr/>
        </p:nvSpPr>
        <p:spPr bwMode="auto">
          <a:xfrm flipV="1">
            <a:off x="0" y="482600"/>
            <a:ext cx="5115560" cy="635"/>
          </a:xfrm>
          <a:prstGeom prst="line">
            <a:avLst/>
          </a:prstGeom>
          <a:noFill/>
          <a:ln w="6350">
            <a:solidFill>
              <a:srgbClr val="6E0F6D"/>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3" name="Line 7"/>
          <p:cNvSpPr>
            <a:spLocks noChangeShapeType="1"/>
          </p:cNvSpPr>
          <p:nvPr/>
        </p:nvSpPr>
        <p:spPr bwMode="auto">
          <a:xfrm>
            <a:off x="7666990" y="482600"/>
            <a:ext cx="4525010" cy="635"/>
          </a:xfrm>
          <a:prstGeom prst="line">
            <a:avLst/>
          </a:prstGeom>
          <a:noFill/>
          <a:ln w="6350">
            <a:solidFill>
              <a:srgbClr val="6E0F6D"/>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6" name="矩形 5"/>
          <p:cNvSpPr/>
          <p:nvPr/>
        </p:nvSpPr>
        <p:spPr>
          <a:xfrm>
            <a:off x="0" y="-2140"/>
            <a:ext cx="569388" cy="923330"/>
          </a:xfrm>
          <a:prstGeom prst="rect">
            <a:avLst/>
          </a:prstGeom>
          <a:noFill/>
        </p:spPr>
        <p:txBody>
          <a:bodyPr wrap="none" lIns="91440" tIns="45720" rIns="91440" bIns="45720">
            <a:spAutoFit/>
          </a:bodyPr>
          <a:lstStyle/>
          <a:p>
            <a:pPr algn="ctr"/>
            <a:r>
              <a:rPr lang="en-US" altLang="zh-CN" sz="5400" b="1" cap="none" spc="0" dirty="0" smtClean="0">
                <a:ln w="9525">
                  <a:solidFill>
                    <a:schemeClr val="bg1"/>
                  </a:solidFill>
                  <a:prstDash val="solid"/>
                </a:ln>
                <a:solidFill>
                  <a:srgbClr val="6E0F6D"/>
                </a:solidFill>
                <a:effectLst>
                  <a:outerShdw blurRad="12700" dist="38100" dir="2700000" algn="tl" rotWithShape="0">
                    <a:schemeClr val="accent5">
                      <a:lumMod val="60000"/>
                      <a:lumOff val="40000"/>
                    </a:schemeClr>
                  </a:outerShdw>
                </a:effectLst>
              </a:rPr>
              <a:t>2</a:t>
            </a:r>
            <a:endParaRPr lang="en-US" altLang="zh-CN" sz="5400" b="1" cap="none" spc="0" dirty="0" smtClean="0">
              <a:ln w="9525">
                <a:solidFill>
                  <a:schemeClr val="bg1"/>
                </a:solidFill>
                <a:prstDash val="solid"/>
              </a:ln>
              <a:solidFill>
                <a:srgbClr val="6E0F6D"/>
              </a:solidFill>
              <a:effectLst>
                <a:outerShdw blurRad="12700" dist="38100" dir="2700000" algn="tl" rotWithShape="0">
                  <a:schemeClr val="accent5">
                    <a:lumMod val="60000"/>
                    <a:lumOff val="40000"/>
                  </a:schemeClr>
                </a:outerShdw>
              </a:effectLst>
            </a:endParaRPr>
          </a:p>
        </p:txBody>
      </p:sp>
      <p:sp>
        <p:nvSpPr>
          <p:cNvPr id="15" name="五边形 14"/>
          <p:cNvSpPr/>
          <p:nvPr/>
        </p:nvSpPr>
        <p:spPr>
          <a:xfrm rot="16200000" flipH="1">
            <a:off x="5960698" y="-5976390"/>
            <a:ext cx="270608" cy="12192004"/>
          </a:xfrm>
          <a:prstGeom prst="homePlate">
            <a:avLst>
              <a:gd name="adj" fmla="val 26602"/>
            </a:avLst>
          </a:prstGeom>
          <a:solidFill>
            <a:srgbClr val="6E0F6D"/>
          </a:solidFill>
          <a:ln>
            <a:noFill/>
          </a:ln>
          <a:effectLst>
            <a:reflection blurRad="6350" stA="50000" endA="300" endPos="55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lumMod val="95000"/>
                </a:schemeClr>
              </a:solidFill>
            </a:endParaRPr>
          </a:p>
        </p:txBody>
      </p:sp>
      <p:sp>
        <p:nvSpPr>
          <p:cNvPr id="13" name="五边形 12"/>
          <p:cNvSpPr/>
          <p:nvPr/>
        </p:nvSpPr>
        <p:spPr>
          <a:xfrm rot="5400000" flipH="1">
            <a:off x="5933983" y="599980"/>
            <a:ext cx="324035" cy="12192004"/>
          </a:xfrm>
          <a:prstGeom prst="homePlate">
            <a:avLst>
              <a:gd name="adj" fmla="val 26602"/>
            </a:avLst>
          </a:prstGeom>
          <a:solidFill>
            <a:srgbClr val="6E0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l="50000" t="50000" r="50000" b="50000"/>
                </a:path>
                <a:tileRect/>
              </a:gradFill>
            </a:endParaRPr>
          </a:p>
        </p:txBody>
      </p:sp>
      <p:sp>
        <p:nvSpPr>
          <p:cNvPr id="8" name="文本框 7"/>
          <p:cNvSpPr txBox="1"/>
          <p:nvPr/>
        </p:nvSpPr>
        <p:spPr>
          <a:xfrm>
            <a:off x="704850" y="1109980"/>
            <a:ext cx="6461125" cy="2296795"/>
          </a:xfrm>
          <a:prstGeom prst="rect">
            <a:avLst/>
          </a:prstGeom>
          <a:noFill/>
        </p:spPr>
        <p:txBody>
          <a:bodyPr wrap="square" rtlCol="0">
            <a:spAutoFit/>
          </a:bodyPr>
          <a:p>
            <a:pPr marL="342900" indent="0" algn="just" fontAlgn="auto">
              <a:lnSpc>
                <a:spcPct val="175000"/>
              </a:lnSpc>
              <a:spcBef>
                <a:spcPts val="500"/>
              </a:spcBef>
              <a:buFont typeface="Wingdings" panose="05000000000000000000" charset="0"/>
              <a:buChar char="u"/>
            </a:pPr>
            <a:r>
              <a:rPr lang="zh-CN" altLang="en-US" sz="2000" b="1" dirty="0">
                <a:latin typeface="Arial" panose="020B0604020202020204" pitchFamily="34" charset="0"/>
                <a:ea typeface="楷体" panose="02010609060101010101" pitchFamily="49" charset="-122"/>
                <a:cs typeface="Arial" panose="020B0604020202020204" pitchFamily="34" charset="0"/>
                <a:sym typeface="+mn-ea"/>
              </a:rPr>
              <a:t>时间序列数据(Time-series data)</a:t>
            </a:r>
            <a:endParaRPr lang="zh-CN" altLang="en-US" sz="2000" dirty="0">
              <a:latin typeface="Arial" panose="020B0604020202020204" pitchFamily="34" charset="0"/>
              <a:ea typeface="楷体" panose="02010609060101010101" pitchFamily="49" charset="-122"/>
              <a:cs typeface="Arial" panose="020B0604020202020204" pitchFamily="34" charset="0"/>
              <a:sym typeface="+mn-ea"/>
            </a:endParaRPr>
          </a:p>
          <a:p>
            <a:pPr marL="342900" indent="0" algn="just" fontAlgn="auto">
              <a:lnSpc>
                <a:spcPct val="125000"/>
              </a:lnSpc>
              <a:spcBef>
                <a:spcPts val="500"/>
              </a:spcBef>
              <a:buFont typeface="Wingdings" panose="05000000000000000000" charset="0"/>
              <a:buNone/>
            </a:pPr>
            <a:r>
              <a:rPr sz="2000" dirty="0">
                <a:latin typeface="Arial" panose="020B0604020202020204" pitchFamily="34" charset="0"/>
                <a:ea typeface="楷体" panose="02010609060101010101" pitchFamily="49" charset="-122"/>
                <a:cs typeface="Arial" panose="020B0604020202020204" pitchFamily="34" charset="0"/>
                <a:sym typeface="+mn-ea"/>
              </a:rPr>
              <a:t>时间序列数据是指对同一对象在不同时间连续观察所取得的数据。它着眼于研究对象在时间顺序上的变化，寻找空间(对象)历时发展的规律。</a:t>
            </a:r>
            <a:endParaRPr sz="2000" dirty="0">
              <a:latin typeface="Arial" panose="020B0604020202020204" pitchFamily="34" charset="0"/>
              <a:ea typeface="楷体" panose="02010609060101010101" pitchFamily="49" charset="-122"/>
              <a:cs typeface="Arial" panose="020B0604020202020204" pitchFamily="34" charset="0"/>
              <a:sym typeface="+mn-ea"/>
            </a:endParaRPr>
          </a:p>
          <a:p>
            <a:pPr marL="342900" indent="0" algn="just" fontAlgn="auto">
              <a:lnSpc>
                <a:spcPct val="125000"/>
              </a:lnSpc>
              <a:spcBef>
                <a:spcPts val="500"/>
              </a:spcBef>
              <a:buFont typeface="Wingdings" panose="05000000000000000000" charset="0"/>
              <a:buNone/>
            </a:pPr>
            <a:endParaRPr lang="zh-CN" altLang="en-US" sz="2000" dirty="0">
              <a:latin typeface="Arial" panose="020B0604020202020204" pitchFamily="34" charset="0"/>
              <a:ea typeface="楷体" panose="02010609060101010101" pitchFamily="49" charset="-122"/>
              <a:cs typeface="Arial" panose="020B0604020202020204" pitchFamily="34" charset="0"/>
              <a:sym typeface="+mn-ea"/>
            </a:endParaRPr>
          </a:p>
        </p:txBody>
      </p:sp>
      <p:pic>
        <p:nvPicPr>
          <p:cNvPr id="2" name="图片 1" descr="20180320150940455"/>
          <p:cNvPicPr>
            <a:picLocks noChangeAspect="1"/>
          </p:cNvPicPr>
          <p:nvPr/>
        </p:nvPicPr>
        <p:blipFill>
          <a:blip r:embed="rId1"/>
          <a:stretch>
            <a:fillRect/>
          </a:stretch>
        </p:blipFill>
        <p:spPr>
          <a:xfrm>
            <a:off x="8003540" y="755015"/>
            <a:ext cx="3569335" cy="2628265"/>
          </a:xfrm>
          <a:prstGeom prst="rect">
            <a:avLst/>
          </a:prstGeom>
        </p:spPr>
      </p:pic>
      <p:sp>
        <p:nvSpPr>
          <p:cNvPr id="4" name="文本框 3"/>
          <p:cNvSpPr txBox="1"/>
          <p:nvPr/>
        </p:nvSpPr>
        <p:spPr>
          <a:xfrm>
            <a:off x="704850" y="3406775"/>
            <a:ext cx="6461125" cy="3002280"/>
          </a:xfrm>
          <a:prstGeom prst="rect">
            <a:avLst/>
          </a:prstGeom>
          <a:noFill/>
        </p:spPr>
        <p:txBody>
          <a:bodyPr wrap="square" rtlCol="0">
            <a:spAutoFit/>
          </a:bodyPr>
          <a:p>
            <a:pPr marL="342900" indent="0" algn="just" fontAlgn="auto">
              <a:lnSpc>
                <a:spcPct val="175000"/>
              </a:lnSpc>
              <a:spcBef>
                <a:spcPts val="500"/>
              </a:spcBef>
              <a:buFont typeface="Wingdings" panose="05000000000000000000" charset="0"/>
              <a:buChar char="u"/>
            </a:pPr>
            <a:r>
              <a:rPr lang="zh-CN" altLang="en-US" sz="2000" b="1" dirty="0">
                <a:latin typeface="Arial" panose="020B0604020202020204" pitchFamily="34" charset="0"/>
                <a:ea typeface="楷体" panose="02010609060101010101" pitchFamily="49" charset="-122"/>
                <a:cs typeface="Arial" panose="020B0604020202020204" pitchFamily="34" charset="0"/>
                <a:sym typeface="+mn-ea"/>
              </a:rPr>
              <a:t>面板数据(Panel data)</a:t>
            </a:r>
            <a:endParaRPr lang="zh-CN" altLang="en-US" sz="2000" b="1" dirty="0">
              <a:latin typeface="Arial" panose="020B0604020202020204" pitchFamily="34" charset="0"/>
              <a:ea typeface="楷体" panose="02010609060101010101" pitchFamily="49" charset="-122"/>
              <a:cs typeface="Arial" panose="020B0604020202020204" pitchFamily="34" charset="0"/>
              <a:sym typeface="+mn-ea"/>
            </a:endParaRPr>
          </a:p>
          <a:p>
            <a:pPr marL="342900" indent="0" algn="just" fontAlgn="auto">
              <a:lnSpc>
                <a:spcPct val="125000"/>
              </a:lnSpc>
              <a:spcBef>
                <a:spcPts val="500"/>
              </a:spcBef>
              <a:buFont typeface="Wingdings" panose="05000000000000000000" charset="0"/>
              <a:buNone/>
            </a:pPr>
            <a:r>
              <a:rPr sz="2000" dirty="0">
                <a:latin typeface="Arial" panose="020B0604020202020204" pitchFamily="34" charset="0"/>
                <a:ea typeface="楷体" panose="02010609060101010101" pitchFamily="49" charset="-122"/>
                <a:cs typeface="Arial" panose="020B0604020202020204" pitchFamily="34" charset="0"/>
                <a:sym typeface="+mn-ea"/>
              </a:rPr>
              <a:t>面板数据，即Panel Data，是截面数据与时间序列综合起来的一种数据资源。 在分析时,多用PanelData模型,故也被称为面板数据模型. 它可以用于分析各样本在时间序列上组成的数据的特征,它能够综合利用样本信息,通过模型中的参数,既可以分析个体之间的差异情况,又可以描述个体的动态变化特征。</a:t>
            </a:r>
            <a:endParaRPr lang="zh-CN" altLang="en-US" sz="2000" dirty="0">
              <a:latin typeface="Arial" panose="020B0604020202020204" pitchFamily="34" charset="0"/>
              <a:ea typeface="楷体" panose="02010609060101010101" pitchFamily="49" charset="-122"/>
              <a:cs typeface="Arial" panose="020B0604020202020204" pitchFamily="34" charset="0"/>
              <a:sym typeface="+mn-ea"/>
            </a:endParaRPr>
          </a:p>
        </p:txBody>
      </p:sp>
      <p:pic>
        <p:nvPicPr>
          <p:cNvPr id="5" name="图片 4" descr="20180320150954522"/>
          <p:cNvPicPr>
            <a:picLocks noChangeAspect="1"/>
          </p:cNvPicPr>
          <p:nvPr/>
        </p:nvPicPr>
        <p:blipFill>
          <a:blip r:embed="rId2"/>
          <a:stretch>
            <a:fillRect/>
          </a:stretch>
        </p:blipFill>
        <p:spPr>
          <a:xfrm>
            <a:off x="8077835" y="3383280"/>
            <a:ext cx="3545840" cy="3125470"/>
          </a:xfrm>
          <a:prstGeom prst="rect">
            <a:avLst/>
          </a:prstGeom>
        </p:spPr>
      </p:pic>
    </p:spTree>
  </p:cSld>
  <p:clrMapOvr>
    <a:masterClrMapping/>
  </p:clrMapOvr>
  <p:transition spd="slow">
    <p:push dir="u"/>
  </p:transition>
  <p:timing>
    <p:tnLst>
      <p:par>
        <p:cTn id="1" dur="indefinite" restart="never" nodeType="tmRoot"/>
      </p:par>
    </p:tnLst>
    <p:bldLst>
      <p:bldP spid="21" grpId="0" bldLvl="0" animBg="1"/>
      <p:bldP spid="22" grpId="0" bldLvl="0" animBg="1"/>
      <p:bldP spid="23"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4"/>
          <p:cNvSpPr txBox="1">
            <a:spLocks noChangeArrowheads="1"/>
          </p:cNvSpPr>
          <p:nvPr/>
        </p:nvSpPr>
        <p:spPr bwMode="auto">
          <a:xfrm>
            <a:off x="4671990" y="254493"/>
            <a:ext cx="2547620" cy="500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2660" b="1" dirty="0">
                <a:solidFill>
                  <a:schemeClr val="tx1">
                    <a:lumMod val="95000"/>
                    <a:lumOff val="5000"/>
                  </a:schemeClr>
                </a:solidFill>
                <a:latin typeface="微软雅黑" panose="020B0503020204020204" pitchFamily="34" charset="-122"/>
                <a:ea typeface="微软雅黑" panose="020B0503020204020204" pitchFamily="34" charset="-122"/>
                <a:sym typeface="+mn-ea"/>
              </a:rPr>
              <a:t>面板类回归模型</a:t>
            </a:r>
            <a:endParaRPr lang="zh-CN" altLang="zh-CN" sz="2665"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3" name="Line 6"/>
          <p:cNvSpPr>
            <a:spLocks noChangeShapeType="1"/>
          </p:cNvSpPr>
          <p:nvPr/>
        </p:nvSpPr>
        <p:spPr bwMode="auto">
          <a:xfrm>
            <a:off x="0" y="483870"/>
            <a:ext cx="4698365" cy="635"/>
          </a:xfrm>
          <a:prstGeom prst="line">
            <a:avLst/>
          </a:prstGeom>
          <a:noFill/>
          <a:ln w="6350">
            <a:solidFill>
              <a:srgbClr val="6E0F6D"/>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4" name="Line 7"/>
          <p:cNvSpPr>
            <a:spLocks noChangeShapeType="1"/>
          </p:cNvSpPr>
          <p:nvPr/>
        </p:nvSpPr>
        <p:spPr bwMode="auto">
          <a:xfrm flipV="1">
            <a:off x="7201535" y="483870"/>
            <a:ext cx="4991735" cy="635"/>
          </a:xfrm>
          <a:prstGeom prst="line">
            <a:avLst/>
          </a:prstGeom>
          <a:noFill/>
          <a:ln w="6350">
            <a:solidFill>
              <a:srgbClr val="6E0F6D"/>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5" name="矩形 14"/>
          <p:cNvSpPr/>
          <p:nvPr/>
        </p:nvSpPr>
        <p:spPr>
          <a:xfrm>
            <a:off x="0" y="22840"/>
            <a:ext cx="569388" cy="923330"/>
          </a:xfrm>
          <a:prstGeom prst="rect">
            <a:avLst/>
          </a:prstGeom>
          <a:noFill/>
        </p:spPr>
        <p:txBody>
          <a:bodyPr wrap="none" lIns="91440" tIns="45720" rIns="91440" bIns="45720">
            <a:spAutoFit/>
          </a:bodyPr>
          <a:lstStyle/>
          <a:p>
            <a:pPr algn="ctr"/>
            <a:r>
              <a:rPr lang="en-US" altLang="zh-CN" sz="5400" b="1" dirty="0">
                <a:ln w="9525">
                  <a:solidFill>
                    <a:schemeClr val="bg1"/>
                  </a:solidFill>
                  <a:prstDash val="solid"/>
                </a:ln>
                <a:solidFill>
                  <a:srgbClr val="6E0F6D"/>
                </a:solidFill>
                <a:effectLst>
                  <a:outerShdw blurRad="12700" dist="38100" dir="2700000" algn="tl" rotWithShape="0">
                    <a:schemeClr val="accent5">
                      <a:lumMod val="60000"/>
                      <a:lumOff val="40000"/>
                    </a:schemeClr>
                  </a:outerShdw>
                </a:effectLst>
              </a:rPr>
              <a:t>3</a:t>
            </a:r>
            <a:endParaRPr lang="en-US" altLang="zh-CN" sz="5400" b="1" cap="none" spc="0" dirty="0">
              <a:ln w="9525">
                <a:solidFill>
                  <a:schemeClr val="bg1"/>
                </a:solidFill>
                <a:prstDash val="solid"/>
              </a:ln>
              <a:solidFill>
                <a:srgbClr val="6E0F6D"/>
              </a:solidFill>
              <a:effectLst>
                <a:outerShdw blurRad="12700" dist="38100" dir="2700000" algn="tl" rotWithShape="0">
                  <a:schemeClr val="accent5">
                    <a:lumMod val="60000"/>
                    <a:lumOff val="40000"/>
                  </a:schemeClr>
                </a:outerShdw>
              </a:effectLst>
            </a:endParaRPr>
          </a:p>
        </p:txBody>
      </p:sp>
      <p:sp>
        <p:nvSpPr>
          <p:cNvPr id="16" name="五边形 15"/>
          <p:cNvSpPr/>
          <p:nvPr/>
        </p:nvSpPr>
        <p:spPr>
          <a:xfrm rot="16200000" flipH="1">
            <a:off x="5960698" y="-5976390"/>
            <a:ext cx="270608" cy="12192004"/>
          </a:xfrm>
          <a:prstGeom prst="homePlate">
            <a:avLst>
              <a:gd name="adj" fmla="val 26602"/>
            </a:avLst>
          </a:prstGeom>
          <a:solidFill>
            <a:srgbClr val="6E0F6D"/>
          </a:solidFill>
          <a:ln>
            <a:noFill/>
          </a:ln>
          <a:effectLst>
            <a:reflection blurRad="6350" stA="50000" endA="300" endPos="55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lumMod val="95000"/>
                </a:schemeClr>
              </a:solidFill>
            </a:endParaRPr>
          </a:p>
        </p:txBody>
      </p:sp>
      <p:sp>
        <p:nvSpPr>
          <p:cNvPr id="17" name="五边形 16"/>
          <p:cNvSpPr/>
          <p:nvPr/>
        </p:nvSpPr>
        <p:spPr>
          <a:xfrm rot="5400000" flipH="1">
            <a:off x="5933983" y="599980"/>
            <a:ext cx="324035" cy="12192004"/>
          </a:xfrm>
          <a:prstGeom prst="homePlate">
            <a:avLst>
              <a:gd name="adj" fmla="val 26602"/>
            </a:avLst>
          </a:prstGeom>
          <a:solidFill>
            <a:srgbClr val="6E0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l="50000" t="50000" r="50000" b="50000"/>
                </a:path>
                <a:tileRect/>
              </a:gradFill>
            </a:endParaRPr>
          </a:p>
        </p:txBody>
      </p:sp>
      <p:sp>
        <p:nvSpPr>
          <p:cNvPr id="9" name="文本框 8"/>
          <p:cNvSpPr txBox="1"/>
          <p:nvPr/>
        </p:nvSpPr>
        <p:spPr>
          <a:xfrm>
            <a:off x="569595" y="1464945"/>
            <a:ext cx="7464425" cy="1835150"/>
          </a:xfrm>
          <a:prstGeom prst="rect">
            <a:avLst/>
          </a:prstGeom>
          <a:noFill/>
        </p:spPr>
        <p:txBody>
          <a:bodyPr wrap="square" rtlCol="0">
            <a:spAutoFit/>
          </a:bodyPr>
          <a:p>
            <a:pPr marL="342900" indent="0" algn="just" fontAlgn="auto">
              <a:lnSpc>
                <a:spcPct val="175000"/>
              </a:lnSpc>
              <a:spcBef>
                <a:spcPts val="500"/>
              </a:spcBef>
              <a:buFont typeface="Wingdings" panose="05000000000000000000" charset="0"/>
              <a:buChar char="u"/>
            </a:pPr>
            <a:r>
              <a:rPr lang="zh-CN" altLang="en-US" sz="2000" b="1" dirty="0">
                <a:latin typeface="Arial" panose="020B0604020202020204" pitchFamily="34" charset="0"/>
                <a:ea typeface="楷体" panose="02010609060101010101" pitchFamily="49" charset="-122"/>
                <a:cs typeface="Arial" panose="020B0604020202020204" pitchFamily="34" charset="0"/>
                <a:sym typeface="+mn-ea"/>
              </a:rPr>
              <a:t>混合效应回归模型（</a:t>
            </a:r>
            <a:r>
              <a:rPr lang="en-US" altLang="zh-CN" sz="2000" b="1" dirty="0">
                <a:latin typeface="Arial" panose="020B0604020202020204" pitchFamily="34" charset="0"/>
                <a:ea typeface="楷体" panose="02010609060101010101" pitchFamily="49" charset="-122"/>
                <a:cs typeface="Arial" panose="020B0604020202020204" pitchFamily="34" charset="0"/>
                <a:sym typeface="+mn-ea"/>
              </a:rPr>
              <a:t>Pooled Regression Model</a:t>
            </a:r>
            <a:r>
              <a:rPr lang="zh-CN" altLang="en-US" sz="2000" b="1" dirty="0">
                <a:latin typeface="Arial" panose="020B0604020202020204" pitchFamily="34" charset="0"/>
                <a:ea typeface="楷体" panose="02010609060101010101" pitchFamily="49" charset="-122"/>
                <a:cs typeface="Arial" panose="020B0604020202020204" pitchFamily="34" charset="0"/>
                <a:sym typeface="+mn-ea"/>
              </a:rPr>
              <a:t>）</a:t>
            </a:r>
            <a:endParaRPr lang="zh-CN" altLang="en-US" sz="2000" b="1" dirty="0">
              <a:latin typeface="Arial" panose="020B0604020202020204" pitchFamily="34" charset="0"/>
              <a:ea typeface="楷体" panose="02010609060101010101" pitchFamily="49" charset="-122"/>
              <a:cs typeface="Arial" panose="020B0604020202020204" pitchFamily="34" charset="0"/>
              <a:sym typeface="+mn-ea"/>
            </a:endParaRPr>
          </a:p>
          <a:p>
            <a:pPr marL="342900" indent="0" algn="just" fontAlgn="auto">
              <a:lnSpc>
                <a:spcPct val="175000"/>
              </a:lnSpc>
              <a:spcBef>
                <a:spcPts val="500"/>
              </a:spcBef>
              <a:buFont typeface="Wingdings" panose="05000000000000000000" charset="0"/>
              <a:buChar char="u"/>
            </a:pPr>
            <a:r>
              <a:rPr lang="zh-CN" altLang="en-US" sz="2000" b="1" dirty="0">
                <a:latin typeface="Arial" panose="020B0604020202020204" pitchFamily="34" charset="0"/>
                <a:ea typeface="楷体" panose="02010609060101010101" pitchFamily="49" charset="-122"/>
                <a:cs typeface="Arial" panose="020B0604020202020204" pitchFamily="34" charset="0"/>
                <a:sym typeface="+mn-ea"/>
              </a:rPr>
              <a:t>固定效应回归模型（</a:t>
            </a:r>
            <a:r>
              <a:rPr lang="en-US" altLang="zh-CN" sz="2000" b="1" dirty="0">
                <a:latin typeface="Arial" panose="020B0604020202020204" pitchFamily="34" charset="0"/>
                <a:ea typeface="楷体" panose="02010609060101010101" pitchFamily="49" charset="-122"/>
                <a:cs typeface="Arial" panose="020B0604020202020204" pitchFamily="34" charset="0"/>
                <a:sym typeface="+mn-ea"/>
              </a:rPr>
              <a:t>Fix Effect Regression Model</a:t>
            </a:r>
            <a:r>
              <a:rPr lang="zh-CN" altLang="en-US" sz="2000" b="1" dirty="0">
                <a:latin typeface="Arial" panose="020B0604020202020204" pitchFamily="34" charset="0"/>
                <a:ea typeface="楷体" panose="02010609060101010101" pitchFamily="49" charset="-122"/>
                <a:cs typeface="Arial" panose="020B0604020202020204" pitchFamily="34" charset="0"/>
                <a:sym typeface="+mn-ea"/>
              </a:rPr>
              <a:t>）</a:t>
            </a:r>
            <a:endParaRPr lang="zh-CN" altLang="en-US" sz="2000" b="1" dirty="0">
              <a:latin typeface="Arial" panose="020B0604020202020204" pitchFamily="34" charset="0"/>
              <a:ea typeface="楷体" panose="02010609060101010101" pitchFamily="49" charset="-122"/>
              <a:cs typeface="Arial" panose="020B0604020202020204" pitchFamily="34" charset="0"/>
              <a:sym typeface="+mn-ea"/>
            </a:endParaRPr>
          </a:p>
          <a:p>
            <a:pPr marL="342900" indent="0" algn="just" fontAlgn="auto">
              <a:lnSpc>
                <a:spcPct val="175000"/>
              </a:lnSpc>
              <a:spcBef>
                <a:spcPts val="500"/>
              </a:spcBef>
              <a:buFont typeface="Wingdings" panose="05000000000000000000" charset="0"/>
              <a:buChar char="u"/>
            </a:pPr>
            <a:r>
              <a:rPr lang="zh-CN" altLang="en-US" sz="2000" b="1" dirty="0">
                <a:latin typeface="Arial" panose="020B0604020202020204" pitchFamily="34" charset="0"/>
                <a:ea typeface="楷体" panose="02010609060101010101" pitchFamily="49" charset="-122"/>
                <a:cs typeface="Arial" panose="020B0604020202020204" pitchFamily="34" charset="0"/>
                <a:sym typeface="+mn-ea"/>
              </a:rPr>
              <a:t>随机效应回归模型（</a:t>
            </a:r>
            <a:r>
              <a:rPr lang="en-US" altLang="zh-CN" sz="2000" b="1" dirty="0">
                <a:latin typeface="Arial" panose="020B0604020202020204" pitchFamily="34" charset="0"/>
                <a:ea typeface="楷体" panose="02010609060101010101" pitchFamily="49" charset="-122"/>
                <a:cs typeface="Arial" panose="020B0604020202020204" pitchFamily="34" charset="0"/>
                <a:sym typeface="+mn-ea"/>
              </a:rPr>
              <a:t>Random Effect Regression Model</a:t>
            </a:r>
            <a:r>
              <a:rPr lang="zh-CN" altLang="en-US" sz="2000" b="1" dirty="0">
                <a:latin typeface="Arial" panose="020B0604020202020204" pitchFamily="34" charset="0"/>
                <a:ea typeface="楷体" panose="02010609060101010101" pitchFamily="49" charset="-122"/>
                <a:cs typeface="Arial" panose="020B0604020202020204" pitchFamily="34" charset="0"/>
                <a:sym typeface="+mn-ea"/>
              </a:rPr>
              <a:t>）</a:t>
            </a:r>
            <a:endParaRPr lang="zh-CN" altLang="en-US" sz="2000" b="1" dirty="0">
              <a:latin typeface="Arial" panose="020B0604020202020204" pitchFamily="34" charset="0"/>
              <a:ea typeface="楷体" panose="02010609060101010101" pitchFamily="49" charset="-122"/>
              <a:cs typeface="Arial" panose="020B0604020202020204" pitchFamily="34" charset="0"/>
              <a:sym typeface="+mn-ea"/>
            </a:endParaRPr>
          </a:p>
        </p:txBody>
      </p:sp>
    </p:spTree>
  </p:cSld>
  <p:clrMapOvr>
    <a:masterClrMapping/>
  </p:clrMapOvr>
  <p:transition spd="slow">
    <p:push dir="u"/>
  </p:transition>
  <p:timing>
    <p:tnLst>
      <p:par>
        <p:cTn id="1" dur="indefinite" restart="never" nodeType="tmRoot"/>
      </p:par>
    </p:tnLst>
    <p:bldLst>
      <p:bldP spid="12" grpId="0" bldLvl="0" animBg="1"/>
      <p:bldP spid="13" grpId="0" bldLvl="0" animBg="1"/>
      <p:bldP spid="14"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4"/>
          <p:cNvSpPr txBox="1">
            <a:spLocks noChangeArrowheads="1"/>
          </p:cNvSpPr>
          <p:nvPr/>
        </p:nvSpPr>
        <p:spPr bwMode="auto">
          <a:xfrm>
            <a:off x="4987322" y="232911"/>
            <a:ext cx="2547620" cy="500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2660" b="1" dirty="0">
                <a:solidFill>
                  <a:schemeClr val="tx1">
                    <a:lumMod val="95000"/>
                    <a:lumOff val="5000"/>
                  </a:schemeClr>
                </a:solidFill>
                <a:latin typeface="微软雅黑" panose="020B0503020204020204" pitchFamily="34" charset="-122"/>
                <a:ea typeface="微软雅黑" panose="020B0503020204020204" pitchFamily="34" charset="-122"/>
                <a:sym typeface="+mn-ea"/>
              </a:rPr>
              <a:t>数据案例的分析</a:t>
            </a:r>
            <a:endParaRPr lang="zh-CN" altLang="zh-CN" sz="2665"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2" name="Line 6"/>
          <p:cNvSpPr>
            <a:spLocks noChangeShapeType="1"/>
          </p:cNvSpPr>
          <p:nvPr/>
        </p:nvSpPr>
        <p:spPr bwMode="auto">
          <a:xfrm>
            <a:off x="0" y="483870"/>
            <a:ext cx="4987290" cy="635"/>
          </a:xfrm>
          <a:prstGeom prst="line">
            <a:avLst/>
          </a:prstGeom>
          <a:noFill/>
          <a:ln w="6350">
            <a:solidFill>
              <a:srgbClr val="6E0F6D"/>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3" name="Line 7"/>
          <p:cNvSpPr>
            <a:spLocks noChangeShapeType="1"/>
          </p:cNvSpPr>
          <p:nvPr/>
        </p:nvSpPr>
        <p:spPr bwMode="auto">
          <a:xfrm>
            <a:off x="7534910" y="483870"/>
            <a:ext cx="4637405" cy="635"/>
          </a:xfrm>
          <a:prstGeom prst="line">
            <a:avLst/>
          </a:prstGeom>
          <a:noFill/>
          <a:ln w="6350">
            <a:solidFill>
              <a:srgbClr val="6E0F6D"/>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0" name="矩形 9"/>
          <p:cNvSpPr/>
          <p:nvPr/>
        </p:nvSpPr>
        <p:spPr>
          <a:xfrm>
            <a:off x="0" y="0"/>
            <a:ext cx="569388" cy="923330"/>
          </a:xfrm>
          <a:prstGeom prst="rect">
            <a:avLst/>
          </a:prstGeom>
          <a:noFill/>
        </p:spPr>
        <p:txBody>
          <a:bodyPr wrap="none" lIns="91440" tIns="45720" rIns="91440" bIns="45720">
            <a:spAutoFit/>
          </a:bodyPr>
          <a:lstStyle/>
          <a:p>
            <a:pPr algn="ctr"/>
            <a:r>
              <a:rPr lang="en-US" altLang="zh-CN" sz="5400" b="1" dirty="0">
                <a:ln w="9525">
                  <a:solidFill>
                    <a:schemeClr val="bg1"/>
                  </a:solidFill>
                  <a:prstDash val="solid"/>
                </a:ln>
                <a:solidFill>
                  <a:srgbClr val="6E0F6D"/>
                </a:solidFill>
                <a:effectLst>
                  <a:outerShdw blurRad="12700" dist="38100" dir="2700000" algn="tl" rotWithShape="0">
                    <a:schemeClr val="accent5">
                      <a:lumMod val="60000"/>
                      <a:lumOff val="40000"/>
                    </a:schemeClr>
                  </a:outerShdw>
                </a:effectLst>
              </a:rPr>
              <a:t>4</a:t>
            </a:r>
            <a:endParaRPr lang="en-US" altLang="zh-CN" sz="5400" b="1" cap="none" spc="0" dirty="0" smtClean="0">
              <a:ln w="9525">
                <a:solidFill>
                  <a:schemeClr val="bg1"/>
                </a:solidFill>
                <a:prstDash val="solid"/>
              </a:ln>
              <a:solidFill>
                <a:srgbClr val="6E0F6D"/>
              </a:solidFill>
              <a:effectLst>
                <a:outerShdw blurRad="12700" dist="38100" dir="2700000" algn="tl" rotWithShape="0">
                  <a:schemeClr val="accent5">
                    <a:lumMod val="60000"/>
                    <a:lumOff val="40000"/>
                  </a:schemeClr>
                </a:outerShdw>
              </a:effectLst>
            </a:endParaRPr>
          </a:p>
        </p:txBody>
      </p:sp>
      <p:sp>
        <p:nvSpPr>
          <p:cNvPr id="7" name="五边形 6"/>
          <p:cNvSpPr/>
          <p:nvPr/>
        </p:nvSpPr>
        <p:spPr>
          <a:xfrm rot="16200000" flipH="1">
            <a:off x="5960698" y="-5976390"/>
            <a:ext cx="270608" cy="12192004"/>
          </a:xfrm>
          <a:prstGeom prst="homePlate">
            <a:avLst>
              <a:gd name="adj" fmla="val 26602"/>
            </a:avLst>
          </a:prstGeom>
          <a:solidFill>
            <a:srgbClr val="6E0F6D"/>
          </a:solidFill>
          <a:ln>
            <a:noFill/>
          </a:ln>
          <a:effectLst>
            <a:reflection blurRad="6350" stA="50000" endA="300" endPos="55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lumMod val="95000"/>
                </a:schemeClr>
              </a:solidFill>
            </a:endParaRPr>
          </a:p>
        </p:txBody>
      </p:sp>
      <p:sp>
        <p:nvSpPr>
          <p:cNvPr id="8" name="五边形 7"/>
          <p:cNvSpPr/>
          <p:nvPr/>
        </p:nvSpPr>
        <p:spPr>
          <a:xfrm rot="5400000" flipH="1">
            <a:off x="5933983" y="599980"/>
            <a:ext cx="324035" cy="12192004"/>
          </a:xfrm>
          <a:prstGeom prst="homePlate">
            <a:avLst>
              <a:gd name="adj" fmla="val 26602"/>
            </a:avLst>
          </a:prstGeom>
          <a:solidFill>
            <a:srgbClr val="6E0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l="50000" t="50000" r="50000" b="50000"/>
                </a:path>
                <a:tileRect/>
              </a:gradFill>
            </a:endParaRPr>
          </a:p>
        </p:txBody>
      </p:sp>
      <p:sp>
        <p:nvSpPr>
          <p:cNvPr id="2" name="文本框 1"/>
          <p:cNvSpPr txBox="1"/>
          <p:nvPr/>
        </p:nvSpPr>
        <p:spPr>
          <a:xfrm>
            <a:off x="1547048" y="1413588"/>
            <a:ext cx="9277509" cy="629920"/>
          </a:xfrm>
          <a:prstGeom prst="rect">
            <a:avLst/>
          </a:prstGeom>
          <a:noFill/>
        </p:spPr>
        <p:txBody>
          <a:bodyPr wrap="square" rtlCol="0">
            <a:spAutoFit/>
          </a:bodyPr>
          <a:p>
            <a:pPr marL="342900" indent="0" algn="just" fontAlgn="auto">
              <a:lnSpc>
                <a:spcPct val="175000"/>
              </a:lnSpc>
              <a:spcBef>
                <a:spcPts val="500"/>
              </a:spcBef>
              <a:buFont typeface="Wingdings" panose="05000000000000000000" charset="0"/>
              <a:buChar char="u"/>
            </a:pPr>
            <a:r>
              <a:rPr lang="zh-CN" altLang="en-US" sz="2000" dirty="0">
                <a:latin typeface="Arial" panose="020B0604020202020204" pitchFamily="34" charset="0"/>
                <a:ea typeface="楷体" panose="02010609060101010101" pitchFamily="49" charset="-122"/>
                <a:cs typeface="Arial" panose="020B0604020202020204" pitchFamily="34" charset="0"/>
                <a:sym typeface="+mn-ea"/>
                <a:hlinkClick r:id="rId1" tooltip="" action="ppaction://hlinkfile"/>
              </a:rPr>
              <a:t>机构投资者的持股行为降低了股价波动吗？</a:t>
            </a:r>
            <a:endParaRPr lang="zh-CN" altLang="en-US" sz="2000" dirty="0">
              <a:latin typeface="Arial" panose="020B0604020202020204" pitchFamily="34" charset="0"/>
              <a:ea typeface="楷体" panose="02010609060101010101" pitchFamily="49" charset="-122"/>
              <a:cs typeface="Arial" panose="020B0604020202020204" pitchFamily="34" charset="0"/>
              <a:sym typeface="+mn-ea"/>
              <a:hlinkClick r:id="rId1" tooltip="" action="ppaction://hlinkfile"/>
            </a:endParaRPr>
          </a:p>
        </p:txBody>
      </p:sp>
    </p:spTree>
  </p:cSld>
  <p:clrMapOvr>
    <a:masterClrMapping/>
  </p:clrMapOvr>
  <p:transition spd="slow">
    <p:push dir="u"/>
  </p:transition>
  <p:timing>
    <p:tnLst>
      <p:par>
        <p:cTn id="1" dur="indefinite" restart="never" nodeType="tmRoot"/>
      </p:par>
    </p:tnLst>
    <p:bldLst>
      <p:bldP spid="21" grpId="0" bldLvl="0" animBg="1"/>
      <p:bldP spid="22" grpId="0" bldLvl="0" animBg="1"/>
      <p:bldP spid="23" grpId="0" bldLvl="0" animBg="1"/>
    </p:bldLst>
  </p:timing>
</p:sld>
</file>

<file path=ppt/tags/tag1.xml><?xml version="1.0" encoding="utf-8"?>
<p:tagLst xmlns:p="http://schemas.openxmlformats.org/presentationml/2006/main">
  <p:tag name="KSO_WM_TAG_VERSION" val="1.0"/>
  <p:tag name="KSO_WM_TEMPLATE_CATEGORY" val="diagram"/>
  <p:tag name="KSO_WM_TEMPLATE_INDEX" val="20186225"/>
</p:tagLst>
</file>

<file path=ppt/tags/tag2.xml><?xml version="1.0" encoding="utf-8"?>
<p:tagLst xmlns:p="http://schemas.openxmlformats.org/presentationml/2006/main">
  <p:tag name="KSO_WM_TAG_VERSION" val="1.0"/>
  <p:tag name="KSO_WM_TEMPLATE_CATEGORY" val="diagram"/>
  <p:tag name="KSO_WM_TEMPLATE_INDEX" val="20186225"/>
</p:tagLst>
</file>

<file path=ppt/tags/tag3.xml><?xml version="1.0" encoding="utf-8"?>
<p:tagLst xmlns:p="http://schemas.openxmlformats.org/presentationml/2006/main">
  <p:tag name="KSO_WM_TEMPLATE_INDEX" val="20186225"/>
  <p:tag name="KSO_WM_TAG_VERSION" val="1.0"/>
  <p:tag name="KSO_WM_BEAUTIFY_FLAG" val="#wm#"/>
  <p:tag name="KSO_WM_TEMPLATE_CATEGORY" val="diagram"/>
</p:tagLst>
</file>

<file path=ppt/tags/tag4.xml><?xml version="1.0" encoding="utf-8"?>
<p:tagLst xmlns:p="http://schemas.openxmlformats.org/presentationml/2006/main">
  <p:tag name="KSO_WM_DOC_GUID" val="{eeffe49c-2e5e-4a6a-ae20-289e9ea0b87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自定义 443">
      <a:dk1>
        <a:srgbClr val="000000"/>
      </a:dk1>
      <a:lt1>
        <a:srgbClr val="FFFFFF"/>
      </a:lt1>
      <a:dk2>
        <a:srgbClr val="778495"/>
      </a:dk2>
      <a:lt2>
        <a:srgbClr val="F0F0F0"/>
      </a:lt2>
      <a:accent1>
        <a:srgbClr val="4276AA"/>
      </a:accent1>
      <a:accent2>
        <a:srgbClr val="178AA1"/>
      </a:accent2>
      <a:accent3>
        <a:srgbClr val="40A693"/>
      </a:accent3>
      <a:accent4>
        <a:srgbClr val="5268A5"/>
      </a:accent4>
      <a:accent5>
        <a:srgbClr val="5E5CA2"/>
      </a:accent5>
      <a:accent6>
        <a:srgbClr val="778495"/>
      </a:accent6>
      <a:hlink>
        <a:srgbClr val="4276AA"/>
      </a:hlink>
      <a:folHlink>
        <a:srgbClr val="BFBFBF"/>
      </a:folHlink>
    </a:clrScheme>
    <a:fontScheme name="hdl0rbj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1405</Words>
  <Application>WPS 演示</Application>
  <PresentationFormat>宽屏</PresentationFormat>
  <Paragraphs>97</Paragraphs>
  <Slides>9</Slides>
  <Notes>14</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9</vt:i4>
      </vt:variant>
    </vt:vector>
  </HeadingPairs>
  <TitlesOfParts>
    <vt:vector size="24" baseType="lpstr">
      <vt:lpstr>Arial</vt:lpstr>
      <vt:lpstr>宋体</vt:lpstr>
      <vt:lpstr>Wingdings</vt:lpstr>
      <vt:lpstr>Arial</vt:lpstr>
      <vt:lpstr>微软雅黑</vt:lpstr>
      <vt:lpstr>华文中宋</vt:lpstr>
      <vt:lpstr>Wingdings</vt:lpstr>
      <vt:lpstr>楷体</vt:lpstr>
      <vt:lpstr>Times New Roman</vt:lpstr>
      <vt:lpstr>Calibri</vt:lpstr>
      <vt:lpstr>Arial Unicode MS</vt:lpstr>
      <vt:lpstr>等线</vt:lpstr>
      <vt:lpstr>等线 Light</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LittleZ</cp:lastModifiedBy>
  <cp:revision>165</cp:revision>
  <dcterms:created xsi:type="dcterms:W3CDTF">2018-01-09T06:41:00Z</dcterms:created>
  <dcterms:modified xsi:type="dcterms:W3CDTF">2020-04-23T07:48:36Z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2052-11.3.0.8632</vt:lpwstr>
  </property>
</Properties>
</file>